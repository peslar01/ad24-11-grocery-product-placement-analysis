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124" d="100"/>
          <a:sy n="124" d="100"/>
        </p:scale>
        <p:origin x="33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75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we're Group 11: Lara, Jonathan and Veprim. Our project tackles a practical question for grocery delivery: how do you decide what to stock and where to place it, using only past purchase data? We built an interactive dashboard on 3.2 million real Instacart orders. Over the next few minutes I'll cover the challenge, the data, who the tool is for, and the six findings that came out of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Quick-commerce platforms like Flink or Gorillas manage assortments of thousands of products, constantly balancing customer demand, storage capacity and delivery efficiency. The assortment planners and buyers who make these calls do it every week — and often from slow, error-prone Excel reports. Our goal was to give them a faster, more visual, data-driven foundation. These five questions framed the entire project: what's bought most, what's bought together, what earns loyalty, when people order, and what all of that means for strategy.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Instacart Online Grocery dataset from 2017 — a public, fully anonymised set of US grocery-delivery orders. It's six linked tables: orders, order-products, products, aisles and departments. Around 3.4 million orders in total, of which the 3.2 million 'prior' orders are the basis for every chart you'll see. One caveat to keep in mind: there are no absolute dates — only day-of-week and hour — and it reflects US behaviour in 2017, so we read it as patterns, not exact forecasts.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built for two people. Sandra is an assortment planner — 34, business background, five years in grocery retail, comfortable with Excel but not code. She needs a fast visual overview without manual prep, and she's frustrated that co-purchase relationships are invisible in her current tools. Marco is a buyer — 28, two years in e-commerce grocery. He needs hard evidence for listing and delisting decisions and for supplier talks, and today too much rides on intuition while loyal niche products never surface in standard reports. Every view in the dashboard maps back to one of their jobs.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deliverable is an interactive Streamlit dashboard — built for exploration, not static reporting. It has three sections that mirror how planners and buyers actually think. KPI Overview is the landing page: six headline metrics for instant orientation. Product Development answers what sells and what sells together — top sellers, department sales, and the products-bought-together network graph. Customer Retention covers who comes back and when — reorder rate, hidden gems, and the shopping-time heatmap. The whole thing runs locally with a single command.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top-sellers view. Bananas are the single most-purchased product at 0.47 million, followed by Bag of Organic Bananas and Organic Strawberries. The striking thing is that the entire top 15 is fresh fruit and vegetables — and more than half carry an 'Organic' label. The recommendation for Sandra: fresh produce and a credible organic range aren't optional, they're the non-negotiable core of the assortment.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up from individual products to departments. Produce drives roughly 9.5 million purchases and Dairy &amp; Eggs about 5.4 million — together nearly half of all volume. The next tier — snacks, beverages, frozen and pantry — is all convenience food. Bulk, alcohol and pets barely register. Recommendation: anchor the assortment on produce and dairy, and treat the convenience categories as the growth layer on top.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market-basket analysis. We took the 500 most-purchased products and linked any two that are bought together at least twice as often as random chance would predict — that's a lift of 2 or more. Communities of tightly linked products emerge, and three clear clusters stand out: a fresh-vegetables-and-aromatics basket, an everyday fruit-and-milk basket, and a distinctly organic basket. Recommendation for Marco: group cluster members in the same app category, recommend products across the links, and bundle the strongest pairs. One honest note — these clusters come from our own recomputation of the data and differ slightly from an earlier draft, so it's worth confirming the parameters before relying on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retention. The overall reorder rate across the dataset is 58.9% — that alone tells us this is a highly habitual customer base. When we look at products with at least 500 purchases, the very highest reorder rates, 84 to 86%, are almost entirely milk and water — pure everyday staples. Recommendation: these staples are ideal candidates for subscriptions and automatic reorder reminders.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gems. Here we deliberately excluded the five biggest departments and asked: what still keeps customers coming back? Breads, hams and wraps reach 78 to 83% reorder rates despite low overall volume — a small but very loyal customer base that is completely invisible in a standard top-sellers report. Recommendation: protect these niche products from delisting; they punch well above their volume in retention terms.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timing. Orders concentrate heavily on Sunday and Monday, roughly between 9am and 4pm — people plan their weekly groceries at the start of the week. Activity falls away sharply before 7am and after 7pm on every day. Recommendation: staff up for that weekly peak, and push promotions on Saturday evening to catch the early planners before the Sunday surge.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it together — four decisions the data supports. One, build on fresh: produce and a credible organic range are the non-negotiable core; that's mainly for Sandra. Two, bundle the clusters: group co-purchased products and cross-sell across the strongest links — that's for Marco. Three, subscribe the staples: milk, water and other high-reorder items are perfect for subscriptions and auto-reorders. Four, protect the gems: keep loyal niche products on the shelf even when their volume looks small. Each one ties straight back to a finding you've just seen.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the dashboard turns three million anonymised orders into decisions Sandra and Marco can actually act on: faster, more intuitively, and without writing a line of code. The repository and the run command are on screen. Thank you —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31F"/>
        </a:solidFill>
        <a:effectLst/>
      </p:bgPr>
    </p:bg>
    <p:spTree>
      <p:nvGrpSpPr>
        <p:cNvPr id="1" name=""/>
        <p:cNvGrpSpPr/>
        <p:nvPr/>
      </p:nvGrpSpPr>
      <p:grpSpPr>
        <a:xfrm>
          <a:off x="0" y="0"/>
          <a:ext cx="0" cy="0"/>
          <a:chOff x="0" y="0"/>
          <a:chExt cx="0" cy="0"/>
        </a:xfrm>
      </p:grpSpPr>
      <p:sp>
        <p:nvSpPr>
          <p:cNvPr id="2" name="Text 0"/>
          <p:cNvSpPr/>
          <p:nvPr/>
        </p:nvSpPr>
        <p:spPr>
          <a:xfrm>
            <a:off x="777240" y="1078992"/>
            <a:ext cx="8229600" cy="320040"/>
          </a:xfrm>
          <a:prstGeom prst="rect">
            <a:avLst/>
          </a:prstGeom>
          <a:noFill/>
          <a:ln/>
        </p:spPr>
        <p:txBody>
          <a:bodyPr wrap="square" lIns="0" tIns="0" rIns="0" bIns="0" rtlCol="0" anchor="ctr"/>
          <a:lstStyle/>
          <a:p>
            <a:pPr marL="0" indent="0">
              <a:buNone/>
            </a:pPr>
            <a:r>
              <a:rPr lang="en-US" sz="1250" b="1" kern="0" spc="200" dirty="0">
                <a:solidFill>
                  <a:srgbClr val="7BB274"/>
                </a:solidFill>
                <a:latin typeface="Calibri" pitchFamily="34" charset="0"/>
                <a:ea typeface="Calibri" pitchFamily="34" charset="-122"/>
                <a:cs typeface="Calibri" pitchFamily="34" charset="-120"/>
              </a:rPr>
              <a:t>ZHAW  ·  VISUALISATION &amp; DATA SCIENCE STORYTELLING II  ·  FS 2025/26</a:t>
            </a:r>
            <a:endParaRPr lang="en-US" sz="1250" dirty="0"/>
          </a:p>
        </p:txBody>
      </p:sp>
      <p:sp>
        <p:nvSpPr>
          <p:cNvPr id="3" name="Text 1"/>
          <p:cNvSpPr/>
          <p:nvPr/>
        </p:nvSpPr>
        <p:spPr>
          <a:xfrm>
            <a:off x="777240" y="1783080"/>
            <a:ext cx="8412480" cy="2148840"/>
          </a:xfrm>
          <a:prstGeom prst="rect">
            <a:avLst/>
          </a:prstGeom>
          <a:noFill/>
          <a:ln/>
        </p:spPr>
        <p:txBody>
          <a:bodyPr wrap="square" lIns="0" tIns="0" rIns="0" bIns="0" rtlCol="0" anchor="ctr"/>
          <a:lstStyle/>
          <a:p>
            <a:pPr marL="0" indent="0">
              <a:lnSpc>
                <a:spcPts val="4600"/>
              </a:lnSpc>
              <a:buNone/>
            </a:pPr>
            <a:r>
              <a:rPr lang="en-US" sz="4100" b="1" dirty="0">
                <a:solidFill>
                  <a:srgbClr val="FFFFFF"/>
                </a:solidFill>
                <a:latin typeface="Georgia" pitchFamily="34" charset="0"/>
                <a:ea typeface="Georgia" pitchFamily="34" charset="-122"/>
                <a:cs typeface="Georgia" pitchFamily="34" charset="-120"/>
              </a:rPr>
              <a:t>Optimising Product Placement</a:t>
            </a:r>
            <a:endParaRPr lang="en-US" sz="4100" dirty="0"/>
          </a:p>
          <a:p>
            <a:pPr marL="0" indent="0">
              <a:lnSpc>
                <a:spcPts val="4600"/>
              </a:lnSpc>
              <a:buNone/>
            </a:pPr>
            <a:r>
              <a:rPr lang="en-US" sz="4100" b="1" dirty="0">
                <a:solidFill>
                  <a:srgbClr val="FFFFFF"/>
                </a:solidFill>
                <a:latin typeface="Georgia" pitchFamily="34" charset="0"/>
                <a:ea typeface="Georgia" pitchFamily="34" charset="-122"/>
                <a:cs typeface="Georgia" pitchFamily="34" charset="-120"/>
              </a:rPr>
              <a:t>Using Grocery Purchase Data</a:t>
            </a:r>
            <a:endParaRPr lang="en-US" sz="4100" dirty="0"/>
          </a:p>
        </p:txBody>
      </p:sp>
      <p:sp>
        <p:nvSpPr>
          <p:cNvPr id="4" name="Text 2"/>
          <p:cNvSpPr/>
          <p:nvPr/>
        </p:nvSpPr>
        <p:spPr>
          <a:xfrm>
            <a:off x="777240" y="4160520"/>
            <a:ext cx="7040880" cy="914400"/>
          </a:xfrm>
          <a:prstGeom prst="rect">
            <a:avLst/>
          </a:prstGeom>
          <a:noFill/>
          <a:ln/>
        </p:spPr>
        <p:txBody>
          <a:bodyPr wrap="square" lIns="0" tIns="0" rIns="0" bIns="0" rtlCol="0" anchor="ctr"/>
          <a:lstStyle/>
          <a:p>
            <a:pPr marL="0" indent="0">
              <a:lnSpc>
                <a:spcPts val="2500"/>
              </a:lnSpc>
              <a:buNone/>
            </a:pPr>
            <a:r>
              <a:rPr lang="en-US" sz="1700" dirty="0">
                <a:solidFill>
                  <a:srgbClr val="A9C9A0"/>
                </a:solidFill>
                <a:latin typeface="Calibri" pitchFamily="34" charset="0"/>
                <a:ea typeface="Calibri" pitchFamily="34" charset="-122"/>
                <a:cs typeface="Calibri" pitchFamily="34" charset="-120"/>
              </a:rPr>
              <a:t>Turning 3.2 million Instacart orders into assortment, cross-sell and retention decisions for grocery delivery.</a:t>
            </a:r>
            <a:endParaRPr lang="en-US" sz="1700" dirty="0"/>
          </a:p>
        </p:txBody>
      </p:sp>
      <p:sp>
        <p:nvSpPr>
          <p:cNvPr id="5" name="Shape 3"/>
          <p:cNvSpPr/>
          <p:nvPr/>
        </p:nvSpPr>
        <p:spPr>
          <a:xfrm>
            <a:off x="777240" y="5532120"/>
            <a:ext cx="1005840" cy="0"/>
          </a:xfrm>
          <a:prstGeom prst="line">
            <a:avLst/>
          </a:prstGeom>
          <a:noFill/>
          <a:ln w="31750">
            <a:solidFill>
              <a:srgbClr val="E07A3F"/>
            </a:solidFill>
            <a:prstDash val="solid"/>
          </a:ln>
        </p:spPr>
        <p:txBody>
          <a:bodyPr/>
          <a:lstStyle/>
          <a:p>
            <a:endParaRPr lang="de-DE"/>
          </a:p>
        </p:txBody>
      </p:sp>
      <p:sp>
        <p:nvSpPr>
          <p:cNvPr id="6" name="Text 4"/>
          <p:cNvSpPr/>
          <p:nvPr/>
        </p:nvSpPr>
        <p:spPr>
          <a:xfrm>
            <a:off x="777240" y="5715000"/>
            <a:ext cx="7315200" cy="36576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Lara Pestrin   ·   Jonathan Kull   ·   Veprim Mehmeti</a:t>
            </a:r>
            <a:endParaRPr lang="en-US" sz="1450" dirty="0"/>
          </a:p>
        </p:txBody>
      </p:sp>
      <p:sp>
        <p:nvSpPr>
          <p:cNvPr id="7" name="Shape 5"/>
          <p:cNvSpPr/>
          <p:nvPr/>
        </p:nvSpPr>
        <p:spPr>
          <a:xfrm>
            <a:off x="9646920" y="2834640"/>
            <a:ext cx="757123" cy="0"/>
          </a:xfrm>
          <a:prstGeom prst="line">
            <a:avLst/>
          </a:prstGeom>
          <a:noFill/>
          <a:ln w="9525">
            <a:solidFill>
              <a:srgbClr val="7BB274">
                <a:alpha val="45000"/>
              </a:srgbClr>
            </a:solidFill>
            <a:prstDash val="solid"/>
          </a:ln>
        </p:spPr>
        <p:txBody>
          <a:bodyPr/>
          <a:lstStyle/>
          <a:p>
            <a:endParaRPr lang="de-DE"/>
          </a:p>
        </p:txBody>
      </p:sp>
      <p:sp>
        <p:nvSpPr>
          <p:cNvPr id="8" name="Shape 6"/>
          <p:cNvSpPr/>
          <p:nvPr/>
        </p:nvSpPr>
        <p:spPr>
          <a:xfrm>
            <a:off x="9646920" y="2834640"/>
            <a:ext cx="504749" cy="757123"/>
          </a:xfrm>
          <a:prstGeom prst="line">
            <a:avLst/>
          </a:prstGeom>
          <a:noFill/>
          <a:ln w="9525">
            <a:solidFill>
              <a:srgbClr val="7BB274">
                <a:alpha val="45000"/>
              </a:srgbClr>
            </a:solidFill>
            <a:prstDash val="solid"/>
          </a:ln>
        </p:spPr>
        <p:txBody>
          <a:bodyPr/>
          <a:lstStyle/>
          <a:p>
            <a:endParaRPr lang="de-DE"/>
          </a:p>
        </p:txBody>
      </p:sp>
      <p:sp>
        <p:nvSpPr>
          <p:cNvPr id="9" name="Shape 7"/>
          <p:cNvSpPr/>
          <p:nvPr/>
        </p:nvSpPr>
        <p:spPr>
          <a:xfrm>
            <a:off x="9646920" y="2834640"/>
            <a:ext cx="0" cy="504749"/>
          </a:xfrm>
          <a:prstGeom prst="line">
            <a:avLst/>
          </a:prstGeom>
          <a:noFill/>
          <a:ln w="9525">
            <a:solidFill>
              <a:srgbClr val="7BB274">
                <a:alpha val="45000"/>
              </a:srgbClr>
            </a:solidFill>
            <a:prstDash val="solid"/>
          </a:ln>
        </p:spPr>
        <p:txBody>
          <a:bodyPr/>
          <a:lstStyle/>
          <a:p>
            <a:endParaRPr lang="de-DE"/>
          </a:p>
        </p:txBody>
      </p:sp>
      <p:sp>
        <p:nvSpPr>
          <p:cNvPr id="10" name="Shape 8"/>
          <p:cNvSpPr/>
          <p:nvPr/>
        </p:nvSpPr>
        <p:spPr>
          <a:xfrm>
            <a:off x="10404043" y="2414016"/>
            <a:ext cx="504749" cy="672998"/>
          </a:xfrm>
          <a:prstGeom prst="line">
            <a:avLst/>
          </a:prstGeom>
          <a:noFill/>
          <a:ln w="9525">
            <a:solidFill>
              <a:srgbClr val="7BB274">
                <a:alpha val="45000"/>
              </a:srgbClr>
            </a:solidFill>
            <a:prstDash val="solid"/>
          </a:ln>
        </p:spPr>
        <p:txBody>
          <a:bodyPr/>
          <a:lstStyle/>
          <a:p>
            <a:endParaRPr lang="de-DE"/>
          </a:p>
        </p:txBody>
      </p:sp>
      <p:sp>
        <p:nvSpPr>
          <p:cNvPr id="11" name="Shape 9"/>
          <p:cNvSpPr/>
          <p:nvPr/>
        </p:nvSpPr>
        <p:spPr>
          <a:xfrm>
            <a:off x="10908792" y="3087014"/>
            <a:ext cx="672998" cy="168250"/>
          </a:xfrm>
          <a:prstGeom prst="line">
            <a:avLst/>
          </a:prstGeom>
          <a:noFill/>
          <a:ln w="9525">
            <a:solidFill>
              <a:srgbClr val="7BB274">
                <a:alpha val="45000"/>
              </a:srgbClr>
            </a:solidFill>
            <a:prstDash val="solid"/>
          </a:ln>
        </p:spPr>
        <p:txBody>
          <a:bodyPr/>
          <a:lstStyle/>
          <a:p>
            <a:endParaRPr lang="de-DE"/>
          </a:p>
        </p:txBody>
      </p:sp>
      <p:sp>
        <p:nvSpPr>
          <p:cNvPr id="12" name="Shape 10"/>
          <p:cNvSpPr/>
          <p:nvPr/>
        </p:nvSpPr>
        <p:spPr>
          <a:xfrm>
            <a:off x="10908792" y="3087014"/>
            <a:ext cx="336499" cy="0"/>
          </a:xfrm>
          <a:prstGeom prst="line">
            <a:avLst/>
          </a:prstGeom>
          <a:noFill/>
          <a:ln w="9525">
            <a:solidFill>
              <a:srgbClr val="7BB274">
                <a:alpha val="45000"/>
              </a:srgbClr>
            </a:solidFill>
            <a:prstDash val="solid"/>
          </a:ln>
        </p:spPr>
        <p:txBody>
          <a:bodyPr/>
          <a:lstStyle/>
          <a:p>
            <a:endParaRPr lang="de-DE"/>
          </a:p>
        </p:txBody>
      </p:sp>
      <p:sp>
        <p:nvSpPr>
          <p:cNvPr id="13" name="Shape 11"/>
          <p:cNvSpPr/>
          <p:nvPr/>
        </p:nvSpPr>
        <p:spPr>
          <a:xfrm>
            <a:off x="10404043" y="2414016"/>
            <a:ext cx="841248" cy="0"/>
          </a:xfrm>
          <a:prstGeom prst="line">
            <a:avLst/>
          </a:prstGeom>
          <a:noFill/>
          <a:ln w="9525">
            <a:solidFill>
              <a:srgbClr val="7BB274">
                <a:alpha val="45000"/>
              </a:srgbClr>
            </a:solidFill>
            <a:prstDash val="solid"/>
          </a:ln>
        </p:spPr>
        <p:txBody>
          <a:bodyPr/>
          <a:lstStyle/>
          <a:p>
            <a:endParaRPr lang="de-DE"/>
          </a:p>
        </p:txBody>
      </p:sp>
      <p:sp>
        <p:nvSpPr>
          <p:cNvPr id="14" name="Shape 12"/>
          <p:cNvSpPr/>
          <p:nvPr/>
        </p:nvSpPr>
        <p:spPr>
          <a:xfrm>
            <a:off x="10151669" y="3591763"/>
            <a:ext cx="504749" cy="420624"/>
          </a:xfrm>
          <a:prstGeom prst="line">
            <a:avLst/>
          </a:prstGeom>
          <a:noFill/>
          <a:ln w="9525">
            <a:solidFill>
              <a:srgbClr val="7BB274">
                <a:alpha val="45000"/>
              </a:srgbClr>
            </a:solidFill>
            <a:prstDash val="solid"/>
          </a:ln>
        </p:spPr>
        <p:txBody>
          <a:bodyPr/>
          <a:lstStyle/>
          <a:p>
            <a:endParaRPr lang="de-DE"/>
          </a:p>
        </p:txBody>
      </p:sp>
      <p:sp>
        <p:nvSpPr>
          <p:cNvPr id="15" name="Shape 13"/>
          <p:cNvSpPr/>
          <p:nvPr/>
        </p:nvSpPr>
        <p:spPr>
          <a:xfrm>
            <a:off x="9646920" y="2834640"/>
            <a:ext cx="0" cy="0"/>
          </a:xfrm>
          <a:prstGeom prst="line">
            <a:avLst/>
          </a:prstGeom>
          <a:noFill/>
          <a:ln w="9525">
            <a:solidFill>
              <a:srgbClr val="7BB274">
                <a:alpha val="45000"/>
              </a:srgbClr>
            </a:solidFill>
            <a:prstDash val="solid"/>
          </a:ln>
        </p:spPr>
        <p:txBody>
          <a:bodyPr/>
          <a:lstStyle/>
          <a:p>
            <a:endParaRPr lang="de-DE"/>
          </a:p>
        </p:txBody>
      </p:sp>
      <p:sp>
        <p:nvSpPr>
          <p:cNvPr id="16" name="Shape 14"/>
          <p:cNvSpPr/>
          <p:nvPr/>
        </p:nvSpPr>
        <p:spPr>
          <a:xfrm>
            <a:off x="9058046" y="3339389"/>
            <a:ext cx="0" cy="0"/>
          </a:xfrm>
          <a:prstGeom prst="line">
            <a:avLst/>
          </a:prstGeom>
          <a:noFill/>
          <a:ln w="9525">
            <a:solidFill>
              <a:srgbClr val="7BB274">
                <a:alpha val="45000"/>
              </a:srgbClr>
            </a:solidFill>
            <a:prstDash val="solid"/>
          </a:ln>
        </p:spPr>
        <p:txBody>
          <a:bodyPr/>
          <a:lstStyle/>
          <a:p>
            <a:endParaRPr lang="de-DE"/>
          </a:p>
        </p:txBody>
      </p:sp>
      <p:sp>
        <p:nvSpPr>
          <p:cNvPr id="17" name="Shape 15"/>
          <p:cNvSpPr/>
          <p:nvPr/>
        </p:nvSpPr>
        <p:spPr>
          <a:xfrm>
            <a:off x="9646920" y="2834640"/>
            <a:ext cx="252374" cy="0"/>
          </a:xfrm>
          <a:prstGeom prst="line">
            <a:avLst/>
          </a:prstGeom>
          <a:noFill/>
          <a:ln w="9525">
            <a:solidFill>
              <a:srgbClr val="7BB274">
                <a:alpha val="45000"/>
              </a:srgbClr>
            </a:solidFill>
            <a:prstDash val="solid"/>
          </a:ln>
        </p:spPr>
        <p:txBody>
          <a:bodyPr/>
          <a:lstStyle/>
          <a:p>
            <a:endParaRPr lang="de-DE"/>
          </a:p>
        </p:txBody>
      </p:sp>
      <p:sp>
        <p:nvSpPr>
          <p:cNvPr id="18" name="Shape 16"/>
          <p:cNvSpPr/>
          <p:nvPr/>
        </p:nvSpPr>
        <p:spPr>
          <a:xfrm>
            <a:off x="11581790" y="3255264"/>
            <a:ext cx="420624" cy="0"/>
          </a:xfrm>
          <a:prstGeom prst="line">
            <a:avLst/>
          </a:prstGeom>
          <a:noFill/>
          <a:ln w="9525">
            <a:solidFill>
              <a:srgbClr val="7BB274">
                <a:alpha val="45000"/>
              </a:srgbClr>
            </a:solidFill>
            <a:prstDash val="solid"/>
          </a:ln>
        </p:spPr>
        <p:txBody>
          <a:bodyPr/>
          <a:lstStyle/>
          <a:p>
            <a:endParaRPr lang="de-DE"/>
          </a:p>
        </p:txBody>
      </p:sp>
      <p:sp>
        <p:nvSpPr>
          <p:cNvPr id="19" name="Shape 17"/>
          <p:cNvSpPr/>
          <p:nvPr/>
        </p:nvSpPr>
        <p:spPr>
          <a:xfrm>
            <a:off x="10656418" y="4012387"/>
            <a:ext cx="672998" cy="0"/>
          </a:xfrm>
          <a:prstGeom prst="line">
            <a:avLst/>
          </a:prstGeom>
          <a:noFill/>
          <a:ln w="9525">
            <a:solidFill>
              <a:srgbClr val="7BB274">
                <a:alpha val="45000"/>
              </a:srgbClr>
            </a:solidFill>
            <a:prstDash val="solid"/>
          </a:ln>
        </p:spPr>
        <p:txBody>
          <a:bodyPr/>
          <a:lstStyle/>
          <a:p>
            <a:endParaRPr lang="de-DE"/>
          </a:p>
        </p:txBody>
      </p:sp>
      <p:sp>
        <p:nvSpPr>
          <p:cNvPr id="20" name="Shape 18"/>
          <p:cNvSpPr/>
          <p:nvPr/>
        </p:nvSpPr>
        <p:spPr>
          <a:xfrm>
            <a:off x="9058046" y="3339389"/>
            <a:ext cx="420624" cy="841248"/>
          </a:xfrm>
          <a:prstGeom prst="line">
            <a:avLst/>
          </a:prstGeom>
          <a:noFill/>
          <a:ln w="9525">
            <a:solidFill>
              <a:srgbClr val="7BB274">
                <a:alpha val="45000"/>
              </a:srgbClr>
            </a:solidFill>
            <a:prstDash val="solid"/>
          </a:ln>
        </p:spPr>
        <p:txBody>
          <a:bodyPr/>
          <a:lstStyle/>
          <a:p>
            <a:endParaRPr lang="de-DE"/>
          </a:p>
        </p:txBody>
      </p:sp>
      <p:sp>
        <p:nvSpPr>
          <p:cNvPr id="21" name="Shape 19"/>
          <p:cNvSpPr/>
          <p:nvPr/>
        </p:nvSpPr>
        <p:spPr>
          <a:xfrm>
            <a:off x="9363456" y="2551176"/>
            <a:ext cx="566928" cy="566928"/>
          </a:xfrm>
          <a:prstGeom prst="ellipse">
            <a:avLst/>
          </a:prstGeom>
          <a:solidFill>
            <a:srgbClr val="2F6E4F"/>
          </a:solidFill>
          <a:ln w="6350">
            <a:solidFill>
              <a:srgbClr val="14331F"/>
            </a:solidFill>
            <a:prstDash val="solid"/>
          </a:ln>
        </p:spPr>
        <p:txBody>
          <a:bodyPr/>
          <a:lstStyle/>
          <a:p>
            <a:endParaRPr lang="de-DE"/>
          </a:p>
        </p:txBody>
      </p:sp>
      <p:sp>
        <p:nvSpPr>
          <p:cNvPr id="22" name="Shape 20"/>
          <p:cNvSpPr/>
          <p:nvPr/>
        </p:nvSpPr>
        <p:spPr>
          <a:xfrm>
            <a:off x="10266883" y="2276856"/>
            <a:ext cx="274320" cy="274320"/>
          </a:xfrm>
          <a:prstGeom prst="ellipse">
            <a:avLst/>
          </a:prstGeom>
          <a:solidFill>
            <a:srgbClr val="7BB274"/>
          </a:solidFill>
          <a:ln w="6350">
            <a:solidFill>
              <a:srgbClr val="14331F"/>
            </a:solidFill>
            <a:prstDash val="solid"/>
          </a:ln>
        </p:spPr>
        <p:txBody>
          <a:bodyPr/>
          <a:lstStyle/>
          <a:p>
            <a:endParaRPr lang="de-DE"/>
          </a:p>
        </p:txBody>
      </p:sp>
      <p:sp>
        <p:nvSpPr>
          <p:cNvPr id="23" name="Shape 21"/>
          <p:cNvSpPr/>
          <p:nvPr/>
        </p:nvSpPr>
        <p:spPr>
          <a:xfrm>
            <a:off x="10716768" y="2894990"/>
            <a:ext cx="384048" cy="384048"/>
          </a:xfrm>
          <a:prstGeom prst="ellipse">
            <a:avLst/>
          </a:prstGeom>
          <a:solidFill>
            <a:srgbClr val="E07A3F"/>
          </a:solidFill>
          <a:ln w="6350">
            <a:solidFill>
              <a:srgbClr val="14331F"/>
            </a:solidFill>
            <a:prstDash val="solid"/>
          </a:ln>
        </p:spPr>
        <p:txBody>
          <a:bodyPr/>
          <a:lstStyle/>
          <a:p>
            <a:endParaRPr lang="de-DE"/>
          </a:p>
        </p:txBody>
      </p:sp>
      <p:sp>
        <p:nvSpPr>
          <p:cNvPr id="24" name="Shape 22"/>
          <p:cNvSpPr/>
          <p:nvPr/>
        </p:nvSpPr>
        <p:spPr>
          <a:xfrm>
            <a:off x="10041941" y="3482035"/>
            <a:ext cx="219456" cy="219456"/>
          </a:xfrm>
          <a:prstGeom prst="ellipse">
            <a:avLst/>
          </a:prstGeom>
          <a:solidFill>
            <a:srgbClr val="A9C9A0"/>
          </a:solidFill>
          <a:ln w="6350">
            <a:solidFill>
              <a:srgbClr val="14331F"/>
            </a:solidFill>
            <a:prstDash val="solid"/>
          </a:ln>
        </p:spPr>
        <p:txBody>
          <a:bodyPr/>
          <a:lstStyle/>
          <a:p>
            <a:endParaRPr lang="de-DE"/>
          </a:p>
        </p:txBody>
      </p:sp>
      <p:sp>
        <p:nvSpPr>
          <p:cNvPr id="25" name="Shape 23"/>
          <p:cNvSpPr/>
          <p:nvPr/>
        </p:nvSpPr>
        <p:spPr>
          <a:xfrm>
            <a:off x="8902598" y="3183941"/>
            <a:ext cx="310896" cy="310896"/>
          </a:xfrm>
          <a:prstGeom prst="ellipse">
            <a:avLst/>
          </a:prstGeom>
          <a:solidFill>
            <a:srgbClr val="2F6E4F"/>
          </a:solidFill>
          <a:ln w="6350">
            <a:solidFill>
              <a:srgbClr val="14331F"/>
            </a:solidFill>
            <a:prstDash val="solid"/>
          </a:ln>
        </p:spPr>
        <p:txBody>
          <a:bodyPr/>
          <a:lstStyle/>
          <a:p>
            <a:endParaRPr lang="de-DE"/>
          </a:p>
        </p:txBody>
      </p:sp>
      <p:sp>
        <p:nvSpPr>
          <p:cNvPr id="26" name="Shape 24"/>
          <p:cNvSpPr/>
          <p:nvPr/>
        </p:nvSpPr>
        <p:spPr>
          <a:xfrm>
            <a:off x="9125712" y="2061058"/>
            <a:ext cx="201168" cy="201168"/>
          </a:xfrm>
          <a:prstGeom prst="ellipse">
            <a:avLst/>
          </a:prstGeom>
          <a:solidFill>
            <a:srgbClr val="5B8DB8"/>
          </a:solidFill>
          <a:ln w="6350">
            <a:solidFill>
              <a:srgbClr val="14331F"/>
            </a:solidFill>
            <a:prstDash val="solid"/>
          </a:ln>
        </p:spPr>
        <p:txBody>
          <a:bodyPr/>
          <a:lstStyle/>
          <a:p>
            <a:endParaRPr lang="de-DE"/>
          </a:p>
        </p:txBody>
      </p:sp>
      <p:sp>
        <p:nvSpPr>
          <p:cNvPr id="27" name="Shape 25"/>
          <p:cNvSpPr/>
          <p:nvPr/>
        </p:nvSpPr>
        <p:spPr>
          <a:xfrm>
            <a:off x="11153851" y="2238451"/>
            <a:ext cx="182880" cy="182880"/>
          </a:xfrm>
          <a:prstGeom prst="ellipse">
            <a:avLst/>
          </a:prstGeom>
          <a:solidFill>
            <a:srgbClr val="7BB274"/>
          </a:solidFill>
          <a:ln w="6350">
            <a:solidFill>
              <a:srgbClr val="14331F"/>
            </a:solidFill>
            <a:prstDash val="solid"/>
          </a:ln>
        </p:spPr>
        <p:txBody>
          <a:bodyPr/>
          <a:lstStyle/>
          <a:p>
            <a:endParaRPr lang="de-DE"/>
          </a:p>
        </p:txBody>
      </p:sp>
      <p:sp>
        <p:nvSpPr>
          <p:cNvPr id="28" name="Shape 26"/>
          <p:cNvSpPr/>
          <p:nvPr/>
        </p:nvSpPr>
        <p:spPr>
          <a:xfrm>
            <a:off x="11417198" y="3090672"/>
            <a:ext cx="329184" cy="329184"/>
          </a:xfrm>
          <a:prstGeom prst="ellipse">
            <a:avLst/>
          </a:prstGeom>
          <a:solidFill>
            <a:srgbClr val="2F6E4F"/>
          </a:solidFill>
          <a:ln w="6350">
            <a:solidFill>
              <a:srgbClr val="14331F"/>
            </a:solidFill>
            <a:prstDash val="solid"/>
          </a:ln>
        </p:spPr>
        <p:txBody>
          <a:bodyPr/>
          <a:lstStyle/>
          <a:p>
            <a:endParaRPr lang="de-DE"/>
          </a:p>
        </p:txBody>
      </p:sp>
      <p:sp>
        <p:nvSpPr>
          <p:cNvPr id="29" name="Shape 27"/>
          <p:cNvSpPr/>
          <p:nvPr/>
        </p:nvSpPr>
        <p:spPr>
          <a:xfrm>
            <a:off x="10537546" y="3893515"/>
            <a:ext cx="237744" cy="237744"/>
          </a:xfrm>
          <a:prstGeom prst="ellipse">
            <a:avLst/>
          </a:prstGeom>
          <a:solidFill>
            <a:srgbClr val="5B8DB8"/>
          </a:solidFill>
          <a:ln w="6350">
            <a:solidFill>
              <a:srgbClr val="14331F"/>
            </a:solidFill>
            <a:prstDash val="solid"/>
          </a:ln>
        </p:spPr>
        <p:txBody>
          <a:bodyPr/>
          <a:lstStyle/>
          <a:p>
            <a:endParaRPr lang="de-DE"/>
          </a:p>
        </p:txBody>
      </p:sp>
      <p:sp>
        <p:nvSpPr>
          <p:cNvPr id="30" name="Shape 28"/>
          <p:cNvSpPr/>
          <p:nvPr/>
        </p:nvSpPr>
        <p:spPr>
          <a:xfrm>
            <a:off x="8639251" y="2584094"/>
            <a:ext cx="164592" cy="164592"/>
          </a:xfrm>
          <a:prstGeom prst="ellipse">
            <a:avLst/>
          </a:prstGeom>
          <a:solidFill>
            <a:srgbClr val="A9C9A0"/>
          </a:solidFill>
          <a:ln w="6350">
            <a:solidFill>
              <a:srgbClr val="14331F"/>
            </a:solidFill>
            <a:prstDash val="solid"/>
          </a:ln>
        </p:spPr>
        <p:txBody>
          <a:bodyPr/>
          <a:lstStyle/>
          <a:p>
            <a:endParaRPr lang="de-DE"/>
          </a:p>
        </p:txBody>
      </p:sp>
      <p:sp>
        <p:nvSpPr>
          <p:cNvPr id="31" name="Shape 29"/>
          <p:cNvSpPr/>
          <p:nvPr/>
        </p:nvSpPr>
        <p:spPr>
          <a:xfrm>
            <a:off x="9771278" y="1613002"/>
            <a:ext cx="256032" cy="256032"/>
          </a:xfrm>
          <a:prstGeom prst="ellipse">
            <a:avLst/>
          </a:prstGeom>
          <a:solidFill>
            <a:srgbClr val="E07A3F"/>
          </a:solidFill>
          <a:ln w="6350">
            <a:solidFill>
              <a:srgbClr val="14331F"/>
            </a:solidFill>
            <a:prstDash val="solid"/>
          </a:ln>
        </p:spPr>
        <p:txBody>
          <a:bodyPr/>
          <a:lstStyle/>
          <a:p>
            <a:endParaRPr lang="de-DE"/>
          </a:p>
        </p:txBody>
      </p:sp>
      <p:sp>
        <p:nvSpPr>
          <p:cNvPr id="32" name="Shape 30"/>
          <p:cNvSpPr/>
          <p:nvPr/>
        </p:nvSpPr>
        <p:spPr>
          <a:xfrm>
            <a:off x="11247120" y="3845966"/>
            <a:ext cx="164592" cy="164592"/>
          </a:xfrm>
          <a:prstGeom prst="ellipse">
            <a:avLst/>
          </a:prstGeom>
          <a:solidFill>
            <a:srgbClr val="7BB274"/>
          </a:solidFill>
          <a:ln w="6350">
            <a:solidFill>
              <a:srgbClr val="14331F"/>
            </a:solidFill>
            <a:prstDash val="solid"/>
          </a:ln>
        </p:spPr>
        <p:txBody>
          <a:bodyPr/>
          <a:lstStyle/>
          <a:p>
            <a:endParaRPr lang="de-DE"/>
          </a:p>
        </p:txBody>
      </p:sp>
      <p:sp>
        <p:nvSpPr>
          <p:cNvPr id="33" name="Shape 31"/>
          <p:cNvSpPr/>
          <p:nvPr/>
        </p:nvSpPr>
        <p:spPr>
          <a:xfrm>
            <a:off x="11892686" y="2556662"/>
            <a:ext cx="219456" cy="219456"/>
          </a:xfrm>
          <a:prstGeom prst="ellipse">
            <a:avLst/>
          </a:prstGeom>
          <a:solidFill>
            <a:srgbClr val="A9C9A0"/>
          </a:solidFill>
          <a:ln w="6350">
            <a:solidFill>
              <a:srgbClr val="14331F"/>
            </a:solidFill>
            <a:prstDash val="solid"/>
          </a:ln>
        </p:spPr>
        <p:txBody>
          <a:bodyPr/>
          <a:lstStyle/>
          <a:p>
            <a:endParaRPr lang="de-DE"/>
          </a:p>
        </p:txBody>
      </p:sp>
      <p:sp>
        <p:nvSpPr>
          <p:cNvPr id="34" name="Shape 32"/>
          <p:cNvSpPr/>
          <p:nvPr/>
        </p:nvSpPr>
        <p:spPr>
          <a:xfrm>
            <a:off x="9387230" y="4089197"/>
            <a:ext cx="182880" cy="182880"/>
          </a:xfrm>
          <a:prstGeom prst="ellipse">
            <a:avLst/>
          </a:prstGeom>
          <a:solidFill>
            <a:srgbClr val="2F6E4F"/>
          </a:solidFill>
          <a:ln w="6350">
            <a:solidFill>
              <a:srgbClr val="14331F"/>
            </a:solidFill>
            <a:prstDash val="solid"/>
          </a:ln>
        </p:spPr>
        <p:txBody>
          <a:bodyPr/>
          <a:lstStyle/>
          <a:p>
            <a:endParaRPr lang="de-DE"/>
          </a:p>
        </p:txBody>
      </p:sp>
      <p:sp>
        <p:nvSpPr>
          <p:cNvPr id="35" name="Shape 33"/>
          <p:cNvSpPr/>
          <p:nvPr/>
        </p:nvSpPr>
        <p:spPr>
          <a:xfrm>
            <a:off x="10415016" y="2929738"/>
            <a:ext cx="146304" cy="146304"/>
          </a:xfrm>
          <a:prstGeom prst="ellipse">
            <a:avLst/>
          </a:prstGeom>
          <a:solidFill>
            <a:srgbClr val="7BB274"/>
          </a:solidFill>
          <a:ln w="6350">
            <a:solidFill>
              <a:srgbClr val="14331F"/>
            </a:solidFill>
            <a:prstDash val="solid"/>
          </a:ln>
        </p:spPr>
        <p:txBody>
          <a:bodyPr/>
          <a:lstStyle/>
          <a:p>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THE CHALLENGE</a:t>
            </a:r>
            <a:endParaRPr lang="en-US" sz="1250" dirty="0"/>
          </a:p>
        </p:txBody>
      </p:sp>
      <p:sp>
        <p:nvSpPr>
          <p:cNvPr id="3" name="Text 1"/>
          <p:cNvSpPr/>
          <p:nvPr/>
        </p:nvSpPr>
        <p:spPr>
          <a:xfrm>
            <a:off x="777240" y="868680"/>
            <a:ext cx="768096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Grocery delivery lives or dies</a:t>
            </a:r>
            <a:endParaRPr lang="en-US" sz="3000" dirty="0"/>
          </a:p>
          <a:p>
            <a:pPr marL="0" indent="0" algn="l">
              <a:buNone/>
            </a:pPr>
            <a:r>
              <a:rPr lang="en-US" sz="3000" b="1" dirty="0">
                <a:solidFill>
                  <a:srgbClr val="1C2E22"/>
                </a:solidFill>
                <a:latin typeface="Georgia" pitchFamily="34" charset="0"/>
                <a:ea typeface="Georgia" pitchFamily="34" charset="-122"/>
                <a:cs typeface="Georgia" pitchFamily="34" charset="-120"/>
              </a:rPr>
              <a:t>by its assortment</a:t>
            </a:r>
            <a:endParaRPr lang="en-US" sz="3000" dirty="0"/>
          </a:p>
        </p:txBody>
      </p:sp>
      <p:sp>
        <p:nvSpPr>
          <p:cNvPr id="4" name="Text 2"/>
          <p:cNvSpPr/>
          <p:nvPr/>
        </p:nvSpPr>
        <p:spPr>
          <a:xfrm>
            <a:off x="777240" y="2880360"/>
            <a:ext cx="5029200" cy="1828800"/>
          </a:xfrm>
          <a:prstGeom prst="rect">
            <a:avLst/>
          </a:prstGeom>
          <a:noFill/>
          <a:ln/>
        </p:spPr>
        <p:txBody>
          <a:bodyPr wrap="square" lIns="0" tIns="0" rIns="0" bIns="0" rtlCol="0" anchor="t"/>
          <a:lstStyle/>
          <a:p>
            <a:pPr marL="0" indent="0">
              <a:lnSpc>
                <a:spcPts val="3200"/>
              </a:lnSpc>
              <a:buNone/>
            </a:pPr>
            <a:r>
              <a:rPr lang="en-US" sz="2200" dirty="0">
                <a:solidFill>
                  <a:srgbClr val="2F6E4F"/>
                </a:solidFill>
                <a:latin typeface="Georgia" pitchFamily="34" charset="0"/>
                <a:ea typeface="Georgia" pitchFamily="34" charset="-122"/>
                <a:cs typeface="Georgia" pitchFamily="34" charset="-120"/>
              </a:rPr>
              <a:t>Thousands of products.</a:t>
            </a:r>
            <a:endParaRPr lang="en-US" sz="2200" dirty="0"/>
          </a:p>
          <a:p>
            <a:pPr marL="0" indent="0">
              <a:lnSpc>
                <a:spcPts val="3200"/>
              </a:lnSpc>
              <a:buNone/>
            </a:pPr>
            <a:r>
              <a:rPr lang="en-US" sz="2200" dirty="0">
                <a:solidFill>
                  <a:srgbClr val="2F6E4F"/>
                </a:solidFill>
                <a:latin typeface="Georgia" pitchFamily="34" charset="0"/>
                <a:ea typeface="Georgia" pitchFamily="34" charset="-122"/>
                <a:cs typeface="Georgia" pitchFamily="34" charset="-120"/>
              </a:rPr>
              <a:t>Weekly stocking decisions.</a:t>
            </a:r>
            <a:endParaRPr lang="en-US" sz="2200" dirty="0"/>
          </a:p>
          <a:p>
            <a:pPr marL="0" indent="0">
              <a:lnSpc>
                <a:spcPts val="3200"/>
              </a:lnSpc>
              <a:buNone/>
            </a:pPr>
            <a:r>
              <a:rPr lang="en-US" sz="2200" dirty="0">
                <a:solidFill>
                  <a:srgbClr val="2F6E4F"/>
                </a:solidFill>
                <a:latin typeface="Georgia" pitchFamily="34" charset="0"/>
                <a:ea typeface="Georgia" pitchFamily="34" charset="-122"/>
                <a:cs typeface="Georgia" pitchFamily="34" charset="-120"/>
              </a:rPr>
              <a:t>Today — mostly intuition.</a:t>
            </a:r>
            <a:endParaRPr lang="en-US" sz="2200" dirty="0"/>
          </a:p>
        </p:txBody>
      </p:sp>
      <p:sp>
        <p:nvSpPr>
          <p:cNvPr id="5" name="Shape 3"/>
          <p:cNvSpPr/>
          <p:nvPr/>
        </p:nvSpPr>
        <p:spPr>
          <a:xfrm>
            <a:off x="6355080" y="1417320"/>
            <a:ext cx="5029200" cy="4754880"/>
          </a:xfrm>
          <a:prstGeom prst="roundRect">
            <a:avLst>
              <a:gd name="adj" fmla="val 1731"/>
            </a:avLst>
          </a:prstGeom>
          <a:solidFill>
            <a:srgbClr val="EEF2EC"/>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6" name="Text 4"/>
          <p:cNvSpPr/>
          <p:nvPr/>
        </p:nvSpPr>
        <p:spPr>
          <a:xfrm>
            <a:off x="6675120" y="1755648"/>
            <a:ext cx="4389120" cy="320040"/>
          </a:xfrm>
          <a:prstGeom prst="rect">
            <a:avLst/>
          </a:prstGeom>
          <a:noFill/>
          <a:ln/>
        </p:spPr>
        <p:txBody>
          <a:bodyPr wrap="square" lIns="0" tIns="0" rIns="0" bIns="0" rtlCol="0" anchor="ctr"/>
          <a:lstStyle/>
          <a:p>
            <a:pPr marL="0" indent="0">
              <a:buNone/>
            </a:pPr>
            <a:r>
              <a:rPr lang="en-US" sz="1150" b="1" kern="0" spc="150" dirty="0">
                <a:solidFill>
                  <a:srgbClr val="2F6E4F"/>
                </a:solidFill>
                <a:latin typeface="Calibri" pitchFamily="34" charset="0"/>
                <a:ea typeface="Calibri" pitchFamily="34" charset="-122"/>
                <a:cs typeface="Calibri" pitchFamily="34" charset="-120"/>
              </a:rPr>
              <a:t>THE QUESTIONS WE SET OUT TO ANSWER</a:t>
            </a:r>
            <a:endParaRPr lang="en-US" sz="1150" dirty="0"/>
          </a:p>
        </p:txBody>
      </p:sp>
      <p:sp>
        <p:nvSpPr>
          <p:cNvPr id="7" name="Text 5"/>
          <p:cNvSpPr/>
          <p:nvPr/>
        </p:nvSpPr>
        <p:spPr>
          <a:xfrm>
            <a:off x="6675120" y="2240280"/>
            <a:ext cx="457200" cy="457200"/>
          </a:xfrm>
          <a:prstGeom prst="rect">
            <a:avLst/>
          </a:prstGeom>
          <a:noFill/>
          <a:ln/>
        </p:spPr>
        <p:txBody>
          <a:bodyPr wrap="square" lIns="0" tIns="0" rIns="0" bIns="0" rtlCol="0" anchor="ctr"/>
          <a:lstStyle/>
          <a:p>
            <a:pPr marL="0" indent="0" algn="l">
              <a:buNone/>
            </a:pPr>
            <a:r>
              <a:rPr lang="en-US" sz="2100" b="1" dirty="0">
                <a:solidFill>
                  <a:srgbClr val="E07A3F"/>
                </a:solidFill>
                <a:latin typeface="Georgia" pitchFamily="34" charset="0"/>
                <a:ea typeface="Georgia" pitchFamily="34" charset="-122"/>
                <a:cs typeface="Georgia" pitchFamily="34" charset="-120"/>
              </a:rPr>
              <a:t>1</a:t>
            </a:r>
            <a:endParaRPr lang="en-US" sz="2100" dirty="0"/>
          </a:p>
        </p:txBody>
      </p:sp>
      <p:sp>
        <p:nvSpPr>
          <p:cNvPr id="8" name="Text 6"/>
          <p:cNvSpPr/>
          <p:nvPr/>
        </p:nvSpPr>
        <p:spPr>
          <a:xfrm>
            <a:off x="7242048" y="2258568"/>
            <a:ext cx="3886200" cy="640080"/>
          </a:xfrm>
          <a:prstGeom prst="rect">
            <a:avLst/>
          </a:prstGeom>
          <a:noFill/>
          <a:ln/>
        </p:spPr>
        <p:txBody>
          <a:bodyPr wrap="square" lIns="0" tIns="0" rIns="0" bIns="0" rtlCol="0" anchor="t"/>
          <a:lstStyle/>
          <a:p>
            <a:pPr marL="0" indent="0">
              <a:lnSpc>
                <a:spcPts val="1700"/>
              </a:lnSpc>
              <a:buNone/>
            </a:pPr>
            <a:r>
              <a:rPr lang="en-US" sz="1350" dirty="0">
                <a:solidFill>
                  <a:srgbClr val="1C2E22"/>
                </a:solidFill>
                <a:latin typeface="Calibri" pitchFamily="34" charset="0"/>
                <a:ea typeface="Calibri" pitchFamily="34" charset="-122"/>
                <a:cs typeface="Calibri" pitchFamily="34" charset="-120"/>
              </a:rPr>
              <a:t>Which products are purchased most frequently?</a:t>
            </a:r>
            <a:endParaRPr lang="en-US" sz="1350" dirty="0"/>
          </a:p>
        </p:txBody>
      </p:sp>
      <p:sp>
        <p:nvSpPr>
          <p:cNvPr id="9" name="Text 7"/>
          <p:cNvSpPr/>
          <p:nvPr/>
        </p:nvSpPr>
        <p:spPr>
          <a:xfrm>
            <a:off x="6675120" y="3026664"/>
            <a:ext cx="457200" cy="457200"/>
          </a:xfrm>
          <a:prstGeom prst="rect">
            <a:avLst/>
          </a:prstGeom>
          <a:noFill/>
          <a:ln/>
        </p:spPr>
        <p:txBody>
          <a:bodyPr wrap="square" lIns="0" tIns="0" rIns="0" bIns="0" rtlCol="0" anchor="ctr"/>
          <a:lstStyle/>
          <a:p>
            <a:pPr marL="0" indent="0" algn="l">
              <a:buNone/>
            </a:pPr>
            <a:r>
              <a:rPr lang="en-US" sz="2100" b="1" dirty="0">
                <a:solidFill>
                  <a:srgbClr val="E07A3F"/>
                </a:solidFill>
                <a:latin typeface="Georgia" pitchFamily="34" charset="0"/>
                <a:ea typeface="Georgia" pitchFamily="34" charset="-122"/>
                <a:cs typeface="Georgia" pitchFamily="34" charset="-120"/>
              </a:rPr>
              <a:t>2</a:t>
            </a:r>
            <a:endParaRPr lang="en-US" sz="2100" dirty="0"/>
          </a:p>
        </p:txBody>
      </p:sp>
      <p:sp>
        <p:nvSpPr>
          <p:cNvPr id="10" name="Text 8"/>
          <p:cNvSpPr/>
          <p:nvPr/>
        </p:nvSpPr>
        <p:spPr>
          <a:xfrm>
            <a:off x="7242048" y="3044952"/>
            <a:ext cx="3886200" cy="640080"/>
          </a:xfrm>
          <a:prstGeom prst="rect">
            <a:avLst/>
          </a:prstGeom>
          <a:noFill/>
          <a:ln/>
        </p:spPr>
        <p:txBody>
          <a:bodyPr wrap="square" lIns="0" tIns="0" rIns="0" bIns="0" rtlCol="0" anchor="t"/>
          <a:lstStyle/>
          <a:p>
            <a:pPr marL="0" indent="0">
              <a:lnSpc>
                <a:spcPts val="1700"/>
              </a:lnSpc>
              <a:buNone/>
            </a:pPr>
            <a:r>
              <a:rPr lang="en-US" sz="1350" dirty="0">
                <a:solidFill>
                  <a:srgbClr val="1C2E22"/>
                </a:solidFill>
                <a:latin typeface="Calibri" pitchFamily="34" charset="0"/>
                <a:ea typeface="Calibri" pitchFamily="34" charset="-122"/>
                <a:cs typeface="Calibri" pitchFamily="34" charset="-120"/>
              </a:rPr>
              <a:t>Which products are commonly bought together?</a:t>
            </a:r>
            <a:endParaRPr lang="en-US" sz="1350" dirty="0"/>
          </a:p>
        </p:txBody>
      </p:sp>
      <p:sp>
        <p:nvSpPr>
          <p:cNvPr id="11" name="Text 9"/>
          <p:cNvSpPr/>
          <p:nvPr/>
        </p:nvSpPr>
        <p:spPr>
          <a:xfrm>
            <a:off x="6675120" y="3813048"/>
            <a:ext cx="457200" cy="457200"/>
          </a:xfrm>
          <a:prstGeom prst="rect">
            <a:avLst/>
          </a:prstGeom>
          <a:noFill/>
          <a:ln/>
        </p:spPr>
        <p:txBody>
          <a:bodyPr wrap="square" lIns="0" tIns="0" rIns="0" bIns="0" rtlCol="0" anchor="ctr"/>
          <a:lstStyle/>
          <a:p>
            <a:pPr marL="0" indent="0" algn="l">
              <a:buNone/>
            </a:pPr>
            <a:r>
              <a:rPr lang="en-US" sz="2100" b="1" dirty="0">
                <a:solidFill>
                  <a:srgbClr val="E07A3F"/>
                </a:solidFill>
                <a:latin typeface="Georgia" pitchFamily="34" charset="0"/>
                <a:ea typeface="Georgia" pitchFamily="34" charset="-122"/>
                <a:cs typeface="Georgia" pitchFamily="34" charset="-120"/>
              </a:rPr>
              <a:t>3</a:t>
            </a:r>
            <a:endParaRPr lang="en-US" sz="2100" dirty="0"/>
          </a:p>
        </p:txBody>
      </p:sp>
      <p:sp>
        <p:nvSpPr>
          <p:cNvPr id="12" name="Text 10"/>
          <p:cNvSpPr/>
          <p:nvPr/>
        </p:nvSpPr>
        <p:spPr>
          <a:xfrm>
            <a:off x="7242048" y="3831336"/>
            <a:ext cx="3886200" cy="640080"/>
          </a:xfrm>
          <a:prstGeom prst="rect">
            <a:avLst/>
          </a:prstGeom>
          <a:noFill/>
          <a:ln/>
        </p:spPr>
        <p:txBody>
          <a:bodyPr wrap="square" lIns="0" tIns="0" rIns="0" bIns="0" rtlCol="0" anchor="t"/>
          <a:lstStyle/>
          <a:p>
            <a:pPr marL="0" indent="0">
              <a:lnSpc>
                <a:spcPts val="1700"/>
              </a:lnSpc>
              <a:buNone/>
            </a:pPr>
            <a:r>
              <a:rPr lang="en-US" sz="1350" dirty="0">
                <a:solidFill>
                  <a:srgbClr val="1C2E22"/>
                </a:solidFill>
                <a:latin typeface="Calibri" pitchFamily="34" charset="0"/>
                <a:ea typeface="Calibri" pitchFamily="34" charset="-122"/>
                <a:cs typeface="Calibri" pitchFamily="34" charset="-120"/>
              </a:rPr>
              <a:t>Which products earn the highest customer loyalty?</a:t>
            </a:r>
            <a:endParaRPr lang="en-US" sz="1350" dirty="0"/>
          </a:p>
        </p:txBody>
      </p:sp>
      <p:sp>
        <p:nvSpPr>
          <p:cNvPr id="13" name="Text 11"/>
          <p:cNvSpPr/>
          <p:nvPr/>
        </p:nvSpPr>
        <p:spPr>
          <a:xfrm>
            <a:off x="6675120" y="4599432"/>
            <a:ext cx="457200" cy="457200"/>
          </a:xfrm>
          <a:prstGeom prst="rect">
            <a:avLst/>
          </a:prstGeom>
          <a:noFill/>
          <a:ln/>
        </p:spPr>
        <p:txBody>
          <a:bodyPr wrap="square" lIns="0" tIns="0" rIns="0" bIns="0" rtlCol="0" anchor="ctr"/>
          <a:lstStyle/>
          <a:p>
            <a:pPr marL="0" indent="0" algn="l">
              <a:buNone/>
            </a:pPr>
            <a:r>
              <a:rPr lang="en-US" sz="2100" b="1" dirty="0">
                <a:solidFill>
                  <a:srgbClr val="E07A3F"/>
                </a:solidFill>
                <a:latin typeface="Georgia" pitchFamily="34" charset="0"/>
                <a:ea typeface="Georgia" pitchFamily="34" charset="-122"/>
                <a:cs typeface="Georgia" pitchFamily="34" charset="-120"/>
              </a:rPr>
              <a:t>4</a:t>
            </a:r>
            <a:endParaRPr lang="en-US" sz="2100" dirty="0"/>
          </a:p>
        </p:txBody>
      </p:sp>
      <p:sp>
        <p:nvSpPr>
          <p:cNvPr id="14" name="Text 12"/>
          <p:cNvSpPr/>
          <p:nvPr/>
        </p:nvSpPr>
        <p:spPr>
          <a:xfrm>
            <a:off x="7242048" y="4617720"/>
            <a:ext cx="3886200" cy="640080"/>
          </a:xfrm>
          <a:prstGeom prst="rect">
            <a:avLst/>
          </a:prstGeom>
          <a:noFill/>
          <a:ln/>
        </p:spPr>
        <p:txBody>
          <a:bodyPr wrap="square" lIns="0" tIns="0" rIns="0" bIns="0" rtlCol="0" anchor="t"/>
          <a:lstStyle/>
          <a:p>
            <a:pPr marL="0" indent="0">
              <a:lnSpc>
                <a:spcPts val="1700"/>
              </a:lnSpc>
              <a:buNone/>
            </a:pPr>
            <a:r>
              <a:rPr lang="en-US" sz="1350" dirty="0">
                <a:solidFill>
                  <a:srgbClr val="1C2E22"/>
                </a:solidFill>
                <a:latin typeface="Calibri" pitchFamily="34" charset="0"/>
                <a:ea typeface="Calibri" pitchFamily="34" charset="-122"/>
                <a:cs typeface="Calibri" pitchFamily="34" charset="-120"/>
              </a:rPr>
              <a:t>When — by day and hour — are orders placed?</a:t>
            </a:r>
            <a:endParaRPr lang="en-US" sz="1350" dirty="0"/>
          </a:p>
        </p:txBody>
      </p:sp>
      <p:sp>
        <p:nvSpPr>
          <p:cNvPr id="15" name="Text 13"/>
          <p:cNvSpPr/>
          <p:nvPr/>
        </p:nvSpPr>
        <p:spPr>
          <a:xfrm>
            <a:off x="6675120" y="5385816"/>
            <a:ext cx="457200" cy="457200"/>
          </a:xfrm>
          <a:prstGeom prst="rect">
            <a:avLst/>
          </a:prstGeom>
          <a:noFill/>
          <a:ln/>
        </p:spPr>
        <p:txBody>
          <a:bodyPr wrap="square" lIns="0" tIns="0" rIns="0" bIns="0" rtlCol="0" anchor="ctr"/>
          <a:lstStyle/>
          <a:p>
            <a:pPr marL="0" indent="0" algn="l">
              <a:buNone/>
            </a:pPr>
            <a:r>
              <a:rPr lang="en-US" sz="2100" b="1" dirty="0">
                <a:solidFill>
                  <a:srgbClr val="E07A3F"/>
                </a:solidFill>
                <a:latin typeface="Georgia" pitchFamily="34" charset="0"/>
                <a:ea typeface="Georgia" pitchFamily="34" charset="-122"/>
                <a:cs typeface="Georgia" pitchFamily="34" charset="-120"/>
              </a:rPr>
              <a:t>5</a:t>
            </a:r>
            <a:endParaRPr lang="en-US" sz="2100" dirty="0"/>
          </a:p>
        </p:txBody>
      </p:sp>
      <p:sp>
        <p:nvSpPr>
          <p:cNvPr id="16" name="Text 14"/>
          <p:cNvSpPr/>
          <p:nvPr/>
        </p:nvSpPr>
        <p:spPr>
          <a:xfrm>
            <a:off x="7242048" y="5404104"/>
            <a:ext cx="3886200" cy="640080"/>
          </a:xfrm>
          <a:prstGeom prst="rect">
            <a:avLst/>
          </a:prstGeom>
          <a:noFill/>
          <a:ln/>
        </p:spPr>
        <p:txBody>
          <a:bodyPr wrap="square" lIns="0" tIns="0" rIns="0" bIns="0" rtlCol="0" anchor="t"/>
          <a:lstStyle/>
          <a:p>
            <a:pPr marL="0" indent="0">
              <a:lnSpc>
                <a:spcPts val="1700"/>
              </a:lnSpc>
              <a:buNone/>
            </a:pPr>
            <a:r>
              <a:rPr lang="en-US" sz="1350" dirty="0">
                <a:solidFill>
                  <a:srgbClr val="1C2E22"/>
                </a:solidFill>
                <a:latin typeface="Calibri" pitchFamily="34" charset="0"/>
                <a:ea typeface="Calibri" pitchFamily="34" charset="-122"/>
                <a:cs typeface="Calibri" pitchFamily="34" charset="-120"/>
              </a:rPr>
              <a:t>What does this mean for assortment and retention?</a:t>
            </a:r>
            <a:endParaRPr lang="en-US" sz="1350" dirty="0"/>
          </a:p>
        </p:txBody>
      </p:sp>
      <p:sp>
        <p:nvSpPr>
          <p:cNvPr id="17" name="Text 15"/>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18" name="Text 16"/>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02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THE DATA</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Built on 3.2 million real grocery orders</a:t>
            </a:r>
            <a:endParaRPr lang="en-US" sz="3000" dirty="0"/>
          </a:p>
        </p:txBody>
      </p:sp>
      <p:sp>
        <p:nvSpPr>
          <p:cNvPr id="4" name="Shape 2"/>
          <p:cNvSpPr/>
          <p:nvPr/>
        </p:nvSpPr>
        <p:spPr>
          <a:xfrm>
            <a:off x="777240" y="2057400"/>
            <a:ext cx="2542032" cy="1783080"/>
          </a:xfrm>
          <a:prstGeom prst="roundRect">
            <a:avLst>
              <a:gd name="adj" fmla="val 4103"/>
            </a:avLst>
          </a:prstGeom>
          <a:solidFill>
            <a:srgbClr val="2F6E4F"/>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5" name="Text 3"/>
          <p:cNvSpPr/>
          <p:nvPr/>
        </p:nvSpPr>
        <p:spPr>
          <a:xfrm>
            <a:off x="777240" y="2304288"/>
            <a:ext cx="254203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3.2M</a:t>
            </a:r>
            <a:endParaRPr lang="en-US" sz="4000" dirty="0"/>
          </a:p>
        </p:txBody>
      </p:sp>
      <p:sp>
        <p:nvSpPr>
          <p:cNvPr id="6" name="Text 4"/>
          <p:cNvSpPr/>
          <p:nvPr/>
        </p:nvSpPr>
        <p:spPr>
          <a:xfrm>
            <a:off x="914400" y="3200400"/>
            <a:ext cx="2267712" cy="502920"/>
          </a:xfrm>
          <a:prstGeom prst="rect">
            <a:avLst/>
          </a:prstGeom>
          <a:noFill/>
          <a:ln/>
        </p:spPr>
        <p:txBody>
          <a:bodyPr wrap="square" lIns="0" tIns="0" rIns="0" bIns="0" rtlCol="0" anchor="ctr"/>
          <a:lstStyle/>
          <a:p>
            <a:pPr marL="0" indent="0" algn="ctr">
              <a:buNone/>
            </a:pPr>
            <a:r>
              <a:rPr lang="en-US" sz="1250" dirty="0">
                <a:solidFill>
                  <a:srgbClr val="A9C9A0"/>
                </a:solidFill>
                <a:latin typeface="Calibri" pitchFamily="34" charset="0"/>
                <a:ea typeface="Calibri" pitchFamily="34" charset="-122"/>
                <a:cs typeface="Calibri" pitchFamily="34" charset="-120"/>
              </a:rPr>
              <a:t>Orders analysed</a:t>
            </a:r>
            <a:endParaRPr lang="en-US" sz="1250" dirty="0"/>
          </a:p>
        </p:txBody>
      </p:sp>
      <p:sp>
        <p:nvSpPr>
          <p:cNvPr id="7" name="Shape 5"/>
          <p:cNvSpPr/>
          <p:nvPr/>
        </p:nvSpPr>
        <p:spPr>
          <a:xfrm>
            <a:off x="3474720" y="2057400"/>
            <a:ext cx="2542032" cy="1783080"/>
          </a:xfrm>
          <a:prstGeom prst="roundRect">
            <a:avLst>
              <a:gd name="adj" fmla="val 4103"/>
            </a:avLst>
          </a:prstGeom>
          <a:solidFill>
            <a:srgbClr val="EEF2EC"/>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8" name="Text 6"/>
          <p:cNvSpPr/>
          <p:nvPr/>
        </p:nvSpPr>
        <p:spPr>
          <a:xfrm>
            <a:off x="3474720" y="2304288"/>
            <a:ext cx="2542032" cy="914400"/>
          </a:xfrm>
          <a:prstGeom prst="rect">
            <a:avLst/>
          </a:prstGeom>
          <a:noFill/>
          <a:ln/>
        </p:spPr>
        <p:txBody>
          <a:bodyPr wrap="square" lIns="0" tIns="0" rIns="0" bIns="0" rtlCol="0" anchor="ctr"/>
          <a:lstStyle/>
          <a:p>
            <a:pPr marL="0" indent="0" algn="ctr">
              <a:buNone/>
            </a:pPr>
            <a:r>
              <a:rPr lang="en-US" sz="4000" b="1" dirty="0">
                <a:solidFill>
                  <a:srgbClr val="2F6E4F"/>
                </a:solidFill>
                <a:latin typeface="Georgia" pitchFamily="34" charset="0"/>
                <a:ea typeface="Georgia" pitchFamily="34" charset="-122"/>
                <a:cs typeface="Georgia" pitchFamily="34" charset="-120"/>
              </a:rPr>
              <a:t>206K</a:t>
            </a:r>
            <a:endParaRPr lang="en-US" sz="4000" dirty="0"/>
          </a:p>
        </p:txBody>
      </p:sp>
      <p:sp>
        <p:nvSpPr>
          <p:cNvPr id="9" name="Text 7"/>
          <p:cNvSpPr/>
          <p:nvPr/>
        </p:nvSpPr>
        <p:spPr>
          <a:xfrm>
            <a:off x="3611880" y="3200400"/>
            <a:ext cx="2267712" cy="502920"/>
          </a:xfrm>
          <a:prstGeom prst="rect">
            <a:avLst/>
          </a:prstGeom>
          <a:noFill/>
          <a:ln/>
        </p:spPr>
        <p:txBody>
          <a:bodyPr wrap="square" lIns="0" tIns="0" rIns="0" bIns="0" rtlCol="0" anchor="ctr"/>
          <a:lstStyle/>
          <a:p>
            <a:pPr marL="0" indent="0" algn="ctr">
              <a:buNone/>
            </a:pPr>
            <a:r>
              <a:rPr lang="en-US" sz="1250" dirty="0">
                <a:solidFill>
                  <a:srgbClr val="6B7A6E"/>
                </a:solidFill>
                <a:latin typeface="Calibri" pitchFamily="34" charset="0"/>
                <a:ea typeface="Calibri" pitchFamily="34" charset="-122"/>
                <a:cs typeface="Calibri" pitchFamily="34" charset="-120"/>
              </a:rPr>
              <a:t>Unique customers</a:t>
            </a:r>
            <a:endParaRPr lang="en-US" sz="1250" dirty="0"/>
          </a:p>
        </p:txBody>
      </p:sp>
      <p:sp>
        <p:nvSpPr>
          <p:cNvPr id="10" name="Shape 8"/>
          <p:cNvSpPr/>
          <p:nvPr/>
        </p:nvSpPr>
        <p:spPr>
          <a:xfrm>
            <a:off x="6172200" y="2057400"/>
            <a:ext cx="2542032" cy="1783080"/>
          </a:xfrm>
          <a:prstGeom prst="roundRect">
            <a:avLst>
              <a:gd name="adj" fmla="val 4103"/>
            </a:avLst>
          </a:prstGeom>
          <a:solidFill>
            <a:srgbClr val="EEF2EC"/>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11" name="Text 9"/>
          <p:cNvSpPr/>
          <p:nvPr/>
        </p:nvSpPr>
        <p:spPr>
          <a:xfrm>
            <a:off x="6172200" y="2304288"/>
            <a:ext cx="2542032" cy="914400"/>
          </a:xfrm>
          <a:prstGeom prst="rect">
            <a:avLst/>
          </a:prstGeom>
          <a:noFill/>
          <a:ln/>
        </p:spPr>
        <p:txBody>
          <a:bodyPr wrap="square" lIns="0" tIns="0" rIns="0" bIns="0" rtlCol="0" anchor="ctr"/>
          <a:lstStyle/>
          <a:p>
            <a:pPr marL="0" indent="0" algn="ctr">
              <a:buNone/>
            </a:pPr>
            <a:r>
              <a:rPr lang="en-US" sz="4000" b="1" dirty="0">
                <a:solidFill>
                  <a:srgbClr val="2F6E4F"/>
                </a:solidFill>
                <a:latin typeface="Georgia" pitchFamily="34" charset="0"/>
                <a:ea typeface="Georgia" pitchFamily="34" charset="-122"/>
                <a:cs typeface="Georgia" pitchFamily="34" charset="-120"/>
              </a:rPr>
              <a:t>49.7K</a:t>
            </a:r>
            <a:endParaRPr lang="en-US" sz="4000" dirty="0"/>
          </a:p>
        </p:txBody>
      </p:sp>
      <p:sp>
        <p:nvSpPr>
          <p:cNvPr id="12" name="Text 10"/>
          <p:cNvSpPr/>
          <p:nvPr/>
        </p:nvSpPr>
        <p:spPr>
          <a:xfrm>
            <a:off x="6309360" y="3200400"/>
            <a:ext cx="2267712" cy="502920"/>
          </a:xfrm>
          <a:prstGeom prst="rect">
            <a:avLst/>
          </a:prstGeom>
          <a:noFill/>
          <a:ln/>
        </p:spPr>
        <p:txBody>
          <a:bodyPr wrap="square" lIns="0" tIns="0" rIns="0" bIns="0" rtlCol="0" anchor="ctr"/>
          <a:lstStyle/>
          <a:p>
            <a:pPr marL="0" indent="0" algn="ctr">
              <a:buNone/>
            </a:pPr>
            <a:r>
              <a:rPr lang="en-US" sz="1250" dirty="0">
                <a:solidFill>
                  <a:srgbClr val="6B7A6E"/>
                </a:solidFill>
                <a:latin typeface="Calibri" pitchFamily="34" charset="0"/>
                <a:ea typeface="Calibri" pitchFamily="34" charset="-122"/>
                <a:cs typeface="Calibri" pitchFamily="34" charset="-120"/>
              </a:rPr>
              <a:t>Unique products</a:t>
            </a:r>
            <a:endParaRPr lang="en-US" sz="1250" dirty="0"/>
          </a:p>
        </p:txBody>
      </p:sp>
      <p:sp>
        <p:nvSpPr>
          <p:cNvPr id="13" name="Shape 11"/>
          <p:cNvSpPr/>
          <p:nvPr/>
        </p:nvSpPr>
        <p:spPr>
          <a:xfrm>
            <a:off x="8869680" y="2057400"/>
            <a:ext cx="2542032" cy="1783080"/>
          </a:xfrm>
          <a:prstGeom prst="roundRect">
            <a:avLst>
              <a:gd name="adj" fmla="val 4103"/>
            </a:avLst>
          </a:prstGeom>
          <a:solidFill>
            <a:srgbClr val="EEF2EC"/>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14" name="Text 12"/>
          <p:cNvSpPr/>
          <p:nvPr/>
        </p:nvSpPr>
        <p:spPr>
          <a:xfrm>
            <a:off x="8869680" y="2304288"/>
            <a:ext cx="2542032" cy="914400"/>
          </a:xfrm>
          <a:prstGeom prst="rect">
            <a:avLst/>
          </a:prstGeom>
          <a:noFill/>
          <a:ln/>
        </p:spPr>
        <p:txBody>
          <a:bodyPr wrap="square" lIns="0" tIns="0" rIns="0" bIns="0" rtlCol="0" anchor="ctr"/>
          <a:lstStyle/>
          <a:p>
            <a:pPr marL="0" indent="0" algn="ctr">
              <a:buNone/>
            </a:pPr>
            <a:r>
              <a:rPr lang="en-US" sz="4000" b="1" dirty="0">
                <a:solidFill>
                  <a:srgbClr val="2F6E4F"/>
                </a:solidFill>
                <a:latin typeface="Georgia" pitchFamily="34" charset="0"/>
                <a:ea typeface="Georgia" pitchFamily="34" charset="-122"/>
                <a:cs typeface="Georgia" pitchFamily="34" charset="-120"/>
              </a:rPr>
              <a:t>21</a:t>
            </a:r>
            <a:endParaRPr lang="en-US" sz="4000" dirty="0"/>
          </a:p>
        </p:txBody>
      </p:sp>
      <p:sp>
        <p:nvSpPr>
          <p:cNvPr id="15" name="Text 13"/>
          <p:cNvSpPr/>
          <p:nvPr/>
        </p:nvSpPr>
        <p:spPr>
          <a:xfrm>
            <a:off x="9006840" y="3200400"/>
            <a:ext cx="2267712" cy="502920"/>
          </a:xfrm>
          <a:prstGeom prst="rect">
            <a:avLst/>
          </a:prstGeom>
          <a:noFill/>
          <a:ln/>
        </p:spPr>
        <p:txBody>
          <a:bodyPr wrap="square" lIns="0" tIns="0" rIns="0" bIns="0" rtlCol="0" anchor="ctr"/>
          <a:lstStyle/>
          <a:p>
            <a:pPr marL="0" indent="0" algn="ctr">
              <a:buNone/>
            </a:pPr>
            <a:r>
              <a:rPr lang="en-US" sz="1250" dirty="0">
                <a:solidFill>
                  <a:srgbClr val="6B7A6E"/>
                </a:solidFill>
                <a:latin typeface="Calibri" pitchFamily="34" charset="0"/>
                <a:ea typeface="Calibri" pitchFamily="34" charset="-122"/>
                <a:cs typeface="Calibri" pitchFamily="34" charset="-120"/>
              </a:rPr>
              <a:t>Departments, 134 aisles</a:t>
            </a:r>
            <a:endParaRPr lang="en-US" sz="1250" dirty="0"/>
          </a:p>
        </p:txBody>
      </p:sp>
      <p:sp>
        <p:nvSpPr>
          <p:cNvPr id="16" name="Text 14"/>
          <p:cNvSpPr/>
          <p:nvPr/>
        </p:nvSpPr>
        <p:spPr>
          <a:xfrm>
            <a:off x="777240" y="4434840"/>
            <a:ext cx="10607040" cy="457200"/>
          </a:xfrm>
          <a:prstGeom prst="rect">
            <a:avLst/>
          </a:prstGeom>
          <a:noFill/>
          <a:ln/>
        </p:spPr>
        <p:txBody>
          <a:bodyPr wrap="square" lIns="0" tIns="0" rIns="0" bIns="0" rtlCol="0" anchor="ctr"/>
          <a:lstStyle/>
          <a:p>
            <a:pPr marL="0" indent="0" algn="l">
              <a:buNone/>
            </a:pPr>
            <a:r>
              <a:rPr lang="en-US" sz="1800" dirty="0">
                <a:solidFill>
                  <a:srgbClr val="1C2E22"/>
                </a:solidFill>
                <a:latin typeface="Georgia" pitchFamily="34" charset="0"/>
                <a:ea typeface="Georgia" pitchFamily="34" charset="-122"/>
                <a:cs typeface="Georgia" pitchFamily="34" charset="-120"/>
              </a:rPr>
              <a:t>The public Instacart 2017 dataset — six linked tables, fully anonymised.</a:t>
            </a:r>
            <a:endParaRPr lang="en-US" sz="1800" dirty="0"/>
          </a:p>
        </p:txBody>
      </p:sp>
      <p:sp>
        <p:nvSpPr>
          <p:cNvPr id="17" name="Text 15"/>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18" name="Text 16"/>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03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WHO IT'S FOR</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Two people make these calls every week</a:t>
            </a:r>
            <a:endParaRPr lang="en-US" sz="3000" dirty="0"/>
          </a:p>
        </p:txBody>
      </p:sp>
      <p:sp>
        <p:nvSpPr>
          <p:cNvPr id="4" name="Shape 2"/>
          <p:cNvSpPr/>
          <p:nvPr/>
        </p:nvSpPr>
        <p:spPr>
          <a:xfrm>
            <a:off x="777240" y="1783080"/>
            <a:ext cx="5029200" cy="4206240"/>
          </a:xfrm>
          <a:prstGeom prst="roundRect">
            <a:avLst>
              <a:gd name="adj" fmla="val 1522"/>
            </a:avLst>
          </a:prstGeom>
          <a:solidFill>
            <a:srgbClr val="FFFFFF"/>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5" name="Shape 3"/>
          <p:cNvSpPr/>
          <p:nvPr/>
        </p:nvSpPr>
        <p:spPr>
          <a:xfrm>
            <a:off x="777240" y="1783080"/>
            <a:ext cx="5029200" cy="109728"/>
          </a:xfrm>
          <a:prstGeom prst="rect">
            <a:avLst/>
          </a:prstGeom>
          <a:solidFill>
            <a:srgbClr val="2F6E4F"/>
          </a:solidFill>
          <a:ln/>
        </p:spPr>
        <p:txBody>
          <a:bodyPr/>
          <a:lstStyle/>
          <a:p>
            <a:endParaRPr lang="de-DE"/>
          </a:p>
        </p:txBody>
      </p:sp>
      <p:pic>
        <p:nvPicPr>
          <p:cNvPr id="6" name="Image 0" descr="assets/avatar_sandra.png"/>
          <p:cNvPicPr>
            <a:picLocks noChangeAspect="1"/>
          </p:cNvPicPr>
          <p:nvPr/>
        </p:nvPicPr>
        <p:blipFill>
          <a:blip r:embed="rId3"/>
          <a:stretch>
            <a:fillRect/>
          </a:stretch>
        </p:blipFill>
        <p:spPr>
          <a:xfrm>
            <a:off x="1143000" y="2157984"/>
            <a:ext cx="950976" cy="950976"/>
          </a:xfrm>
          <a:prstGeom prst="rect">
            <a:avLst/>
          </a:prstGeom>
        </p:spPr>
      </p:pic>
      <p:sp>
        <p:nvSpPr>
          <p:cNvPr id="7" name="Text 4"/>
          <p:cNvSpPr/>
          <p:nvPr/>
        </p:nvSpPr>
        <p:spPr>
          <a:xfrm>
            <a:off x="2258568" y="2249424"/>
            <a:ext cx="3383280" cy="457200"/>
          </a:xfrm>
          <a:prstGeom prst="rect">
            <a:avLst/>
          </a:prstGeom>
          <a:noFill/>
          <a:ln/>
        </p:spPr>
        <p:txBody>
          <a:bodyPr wrap="square" lIns="0" tIns="0" rIns="0" bIns="0" rtlCol="0" anchor="ctr"/>
          <a:lstStyle/>
          <a:p>
            <a:pPr marL="0" indent="0">
              <a:buNone/>
            </a:pPr>
            <a:r>
              <a:rPr lang="en-US" sz="2400" b="1" dirty="0">
                <a:solidFill>
                  <a:srgbClr val="1C2E22"/>
                </a:solidFill>
                <a:latin typeface="Georgia" pitchFamily="34" charset="0"/>
                <a:ea typeface="Georgia" pitchFamily="34" charset="-122"/>
                <a:cs typeface="Georgia" pitchFamily="34" charset="-120"/>
              </a:rPr>
              <a:t>Sandra</a:t>
            </a:r>
            <a:endParaRPr lang="en-US" sz="2400" dirty="0"/>
          </a:p>
        </p:txBody>
      </p:sp>
      <p:sp>
        <p:nvSpPr>
          <p:cNvPr id="8" name="Text 5"/>
          <p:cNvSpPr/>
          <p:nvPr/>
        </p:nvSpPr>
        <p:spPr>
          <a:xfrm>
            <a:off x="2276856" y="2697480"/>
            <a:ext cx="3383280" cy="292608"/>
          </a:xfrm>
          <a:prstGeom prst="rect">
            <a:avLst/>
          </a:prstGeom>
          <a:noFill/>
          <a:ln/>
        </p:spPr>
        <p:txBody>
          <a:bodyPr wrap="square" lIns="0" tIns="0" rIns="0" bIns="0" rtlCol="0" anchor="ctr"/>
          <a:lstStyle/>
          <a:p>
            <a:pPr marL="0" indent="0">
              <a:buNone/>
            </a:pPr>
            <a:r>
              <a:rPr lang="en-US" sz="1150" b="1" kern="0" spc="150" dirty="0">
                <a:solidFill>
                  <a:srgbClr val="2F6E4F"/>
                </a:solidFill>
                <a:latin typeface="Calibri" pitchFamily="34" charset="0"/>
                <a:ea typeface="Calibri" pitchFamily="34" charset="-122"/>
                <a:cs typeface="Calibri" pitchFamily="34" charset="-120"/>
              </a:rPr>
              <a:t>ASSORTMENT PLANNER</a:t>
            </a:r>
            <a:endParaRPr lang="en-US" sz="1150" dirty="0"/>
          </a:p>
        </p:txBody>
      </p:sp>
      <p:sp>
        <p:nvSpPr>
          <p:cNvPr id="9" name="Text 6"/>
          <p:cNvSpPr/>
          <p:nvPr/>
        </p:nvSpPr>
        <p:spPr>
          <a:xfrm>
            <a:off x="1143000" y="3310128"/>
            <a:ext cx="4297680" cy="457200"/>
          </a:xfrm>
          <a:prstGeom prst="rect">
            <a:avLst/>
          </a:prstGeom>
          <a:noFill/>
          <a:ln/>
        </p:spPr>
        <p:txBody>
          <a:bodyPr wrap="square" lIns="0" tIns="0" rIns="0" bIns="0" rtlCol="0" anchor="t"/>
          <a:lstStyle/>
          <a:p>
            <a:pPr marL="0" indent="0">
              <a:lnSpc>
                <a:spcPts val="1600"/>
              </a:lnSpc>
              <a:buNone/>
            </a:pPr>
            <a:r>
              <a:rPr lang="en-US" sz="1200" dirty="0">
                <a:solidFill>
                  <a:srgbClr val="6B7A6E"/>
                </a:solidFill>
                <a:latin typeface="Calibri" pitchFamily="34" charset="0"/>
                <a:ea typeface="Calibri" pitchFamily="34" charset="-122"/>
                <a:cs typeface="Calibri" pitchFamily="34" charset="-120"/>
              </a:rPr>
              <a:t>34 · Business Administration · 5 years in grocery retail · no coding</a:t>
            </a:r>
            <a:endParaRPr lang="en-US" sz="1200" dirty="0"/>
          </a:p>
        </p:txBody>
      </p:sp>
      <p:sp>
        <p:nvSpPr>
          <p:cNvPr id="10" name="Text 7"/>
          <p:cNvSpPr/>
          <p:nvPr/>
        </p:nvSpPr>
        <p:spPr>
          <a:xfrm>
            <a:off x="1143000" y="3950208"/>
            <a:ext cx="4297680" cy="822960"/>
          </a:xfrm>
          <a:prstGeom prst="rect">
            <a:avLst/>
          </a:prstGeom>
          <a:noFill/>
          <a:ln/>
        </p:spPr>
        <p:txBody>
          <a:bodyPr wrap="square" lIns="0" tIns="0" rIns="0" bIns="0" rtlCol="0" anchor="t"/>
          <a:lstStyle/>
          <a:p>
            <a:pPr marL="0" indent="0">
              <a:lnSpc>
                <a:spcPts val="1800"/>
              </a:lnSpc>
              <a:buNone/>
            </a:pPr>
            <a:r>
              <a:rPr lang="en-US" sz="1100" b="1" kern="0" spc="100" dirty="0">
                <a:solidFill>
                  <a:srgbClr val="2F6E4F"/>
                </a:solidFill>
                <a:latin typeface="Calibri" pitchFamily="34" charset="0"/>
                <a:ea typeface="Calibri" pitchFamily="34" charset="-122"/>
                <a:cs typeface="Calibri" pitchFamily="34" charset="-120"/>
              </a:rPr>
              <a:t>NEEDS
</a:t>
            </a:r>
            <a:r>
              <a:rPr lang="en-US" sz="1350" dirty="0">
                <a:solidFill>
                  <a:srgbClr val="1C2E22"/>
                </a:solidFill>
                <a:latin typeface="Calibri" pitchFamily="34" charset="0"/>
                <a:ea typeface="Calibri" pitchFamily="34" charset="-122"/>
                <a:cs typeface="Calibri" pitchFamily="34" charset="-120"/>
              </a:rPr>
              <a:t>A fast visual overview of what sells — and what sells together.</a:t>
            </a:r>
            <a:endParaRPr lang="en-US" sz="1100" dirty="0"/>
          </a:p>
        </p:txBody>
      </p:sp>
      <p:sp>
        <p:nvSpPr>
          <p:cNvPr id="11" name="Text 8"/>
          <p:cNvSpPr/>
          <p:nvPr/>
        </p:nvSpPr>
        <p:spPr>
          <a:xfrm>
            <a:off x="1143000" y="4864608"/>
            <a:ext cx="4297680" cy="822960"/>
          </a:xfrm>
          <a:prstGeom prst="rect">
            <a:avLst/>
          </a:prstGeom>
          <a:noFill/>
          <a:ln/>
        </p:spPr>
        <p:txBody>
          <a:bodyPr wrap="square" lIns="0" tIns="0" rIns="0" bIns="0" rtlCol="0" anchor="t"/>
          <a:lstStyle/>
          <a:p>
            <a:pPr marL="0" indent="0">
              <a:lnSpc>
                <a:spcPts val="1800"/>
              </a:lnSpc>
              <a:buNone/>
            </a:pPr>
            <a:r>
              <a:rPr lang="en-US" sz="1100" b="1" kern="0" spc="100" dirty="0">
                <a:solidFill>
                  <a:srgbClr val="E07A3F"/>
                </a:solidFill>
                <a:latin typeface="Calibri" pitchFamily="34" charset="0"/>
                <a:ea typeface="Calibri" pitchFamily="34" charset="-122"/>
                <a:cs typeface="Calibri" pitchFamily="34" charset="-120"/>
              </a:rPr>
              <a:t>PAIN
</a:t>
            </a:r>
            <a:r>
              <a:rPr lang="en-US" sz="1350" dirty="0">
                <a:solidFill>
                  <a:srgbClr val="1C2E22"/>
                </a:solidFill>
                <a:latin typeface="Calibri" pitchFamily="34" charset="0"/>
                <a:ea typeface="Calibri" pitchFamily="34" charset="-122"/>
                <a:cs typeface="Calibri" pitchFamily="34" charset="-120"/>
              </a:rPr>
              <a:t>Slow, manual reports; co-purchase patterns are invisible.</a:t>
            </a:r>
            <a:endParaRPr lang="en-US" sz="1100" dirty="0"/>
          </a:p>
        </p:txBody>
      </p:sp>
      <p:sp>
        <p:nvSpPr>
          <p:cNvPr id="12" name="Shape 9"/>
          <p:cNvSpPr/>
          <p:nvPr/>
        </p:nvSpPr>
        <p:spPr>
          <a:xfrm>
            <a:off x="6355080" y="1783080"/>
            <a:ext cx="5029200" cy="4206240"/>
          </a:xfrm>
          <a:prstGeom prst="roundRect">
            <a:avLst>
              <a:gd name="adj" fmla="val 1522"/>
            </a:avLst>
          </a:prstGeom>
          <a:solidFill>
            <a:srgbClr val="FFFFFF"/>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13" name="Shape 10"/>
          <p:cNvSpPr/>
          <p:nvPr/>
        </p:nvSpPr>
        <p:spPr>
          <a:xfrm>
            <a:off x="6355080" y="1783080"/>
            <a:ext cx="5029200" cy="109728"/>
          </a:xfrm>
          <a:prstGeom prst="rect">
            <a:avLst/>
          </a:prstGeom>
          <a:solidFill>
            <a:srgbClr val="E07A3F"/>
          </a:solidFill>
          <a:ln/>
        </p:spPr>
        <p:txBody>
          <a:bodyPr/>
          <a:lstStyle/>
          <a:p>
            <a:endParaRPr lang="de-DE"/>
          </a:p>
        </p:txBody>
      </p:sp>
      <p:pic>
        <p:nvPicPr>
          <p:cNvPr id="14" name="Image 1" descr="assets/avatar_marco.png"/>
          <p:cNvPicPr>
            <a:picLocks noChangeAspect="1"/>
          </p:cNvPicPr>
          <p:nvPr/>
        </p:nvPicPr>
        <p:blipFill>
          <a:blip r:embed="rId4"/>
          <a:stretch>
            <a:fillRect/>
          </a:stretch>
        </p:blipFill>
        <p:spPr>
          <a:xfrm>
            <a:off x="6720840" y="2157984"/>
            <a:ext cx="950976" cy="950976"/>
          </a:xfrm>
          <a:prstGeom prst="rect">
            <a:avLst/>
          </a:prstGeom>
        </p:spPr>
      </p:pic>
      <p:sp>
        <p:nvSpPr>
          <p:cNvPr id="15" name="Text 11"/>
          <p:cNvSpPr/>
          <p:nvPr/>
        </p:nvSpPr>
        <p:spPr>
          <a:xfrm>
            <a:off x="7836408" y="2249424"/>
            <a:ext cx="3383280" cy="457200"/>
          </a:xfrm>
          <a:prstGeom prst="rect">
            <a:avLst/>
          </a:prstGeom>
          <a:noFill/>
          <a:ln/>
        </p:spPr>
        <p:txBody>
          <a:bodyPr wrap="square" lIns="0" tIns="0" rIns="0" bIns="0" rtlCol="0" anchor="ctr"/>
          <a:lstStyle/>
          <a:p>
            <a:pPr marL="0" indent="0">
              <a:buNone/>
            </a:pPr>
            <a:r>
              <a:rPr lang="en-US" sz="2400" b="1" dirty="0">
                <a:solidFill>
                  <a:srgbClr val="1C2E22"/>
                </a:solidFill>
                <a:latin typeface="Georgia" pitchFamily="34" charset="0"/>
                <a:ea typeface="Georgia" pitchFamily="34" charset="-122"/>
                <a:cs typeface="Georgia" pitchFamily="34" charset="-120"/>
              </a:rPr>
              <a:t>Marco</a:t>
            </a:r>
            <a:endParaRPr lang="en-US" sz="2400" dirty="0"/>
          </a:p>
        </p:txBody>
      </p:sp>
      <p:sp>
        <p:nvSpPr>
          <p:cNvPr id="16" name="Text 12"/>
          <p:cNvSpPr/>
          <p:nvPr/>
        </p:nvSpPr>
        <p:spPr>
          <a:xfrm>
            <a:off x="7854696" y="2697480"/>
            <a:ext cx="3383280" cy="292608"/>
          </a:xfrm>
          <a:prstGeom prst="rect">
            <a:avLst/>
          </a:prstGeom>
          <a:noFill/>
          <a:ln/>
        </p:spPr>
        <p:txBody>
          <a:bodyPr wrap="square" lIns="0" tIns="0" rIns="0" bIns="0" rtlCol="0" anchor="ctr"/>
          <a:lstStyle/>
          <a:p>
            <a:pPr marL="0" indent="0">
              <a:buNone/>
            </a:pPr>
            <a:r>
              <a:rPr lang="en-US" sz="1150" b="1" kern="0" spc="150" dirty="0">
                <a:solidFill>
                  <a:srgbClr val="E07A3F"/>
                </a:solidFill>
                <a:latin typeface="Calibri" pitchFamily="34" charset="0"/>
                <a:ea typeface="Calibri" pitchFamily="34" charset="-122"/>
                <a:cs typeface="Calibri" pitchFamily="34" charset="-120"/>
              </a:rPr>
              <a:t>BUYER</a:t>
            </a:r>
            <a:endParaRPr lang="en-US" sz="1150" dirty="0"/>
          </a:p>
        </p:txBody>
      </p:sp>
      <p:sp>
        <p:nvSpPr>
          <p:cNvPr id="17" name="Text 13"/>
          <p:cNvSpPr/>
          <p:nvPr/>
        </p:nvSpPr>
        <p:spPr>
          <a:xfrm>
            <a:off x="6720840" y="3310128"/>
            <a:ext cx="4297680" cy="457200"/>
          </a:xfrm>
          <a:prstGeom prst="rect">
            <a:avLst/>
          </a:prstGeom>
          <a:noFill/>
          <a:ln/>
        </p:spPr>
        <p:txBody>
          <a:bodyPr wrap="square" lIns="0" tIns="0" rIns="0" bIns="0" rtlCol="0" anchor="t"/>
          <a:lstStyle/>
          <a:p>
            <a:pPr marL="0" indent="0">
              <a:lnSpc>
                <a:spcPts val="1600"/>
              </a:lnSpc>
              <a:buNone/>
            </a:pPr>
            <a:r>
              <a:rPr lang="en-US" sz="1200" dirty="0">
                <a:solidFill>
                  <a:srgbClr val="6B7A6E"/>
                </a:solidFill>
                <a:latin typeface="Calibri" pitchFamily="34" charset="0"/>
                <a:ea typeface="Calibri" pitchFamily="34" charset="-122"/>
                <a:cs typeface="Calibri" pitchFamily="34" charset="-120"/>
              </a:rPr>
              <a:t>28 · Retail Management · 2 years in e-commerce grocery · no coding</a:t>
            </a:r>
            <a:endParaRPr lang="en-US" sz="1200" dirty="0"/>
          </a:p>
        </p:txBody>
      </p:sp>
      <p:sp>
        <p:nvSpPr>
          <p:cNvPr id="18" name="Text 14"/>
          <p:cNvSpPr/>
          <p:nvPr/>
        </p:nvSpPr>
        <p:spPr>
          <a:xfrm>
            <a:off x="6720840" y="3950208"/>
            <a:ext cx="4297680" cy="822960"/>
          </a:xfrm>
          <a:prstGeom prst="rect">
            <a:avLst/>
          </a:prstGeom>
          <a:noFill/>
          <a:ln/>
        </p:spPr>
        <p:txBody>
          <a:bodyPr wrap="square" lIns="0" tIns="0" rIns="0" bIns="0" rtlCol="0" anchor="t"/>
          <a:lstStyle/>
          <a:p>
            <a:pPr marL="0" indent="0">
              <a:lnSpc>
                <a:spcPts val="1800"/>
              </a:lnSpc>
              <a:buNone/>
            </a:pPr>
            <a:r>
              <a:rPr lang="en-US" sz="1100" b="1" kern="0" spc="100" dirty="0">
                <a:solidFill>
                  <a:srgbClr val="2F6E4F"/>
                </a:solidFill>
                <a:latin typeface="Calibri" pitchFamily="34" charset="0"/>
                <a:ea typeface="Calibri" pitchFamily="34" charset="-122"/>
                <a:cs typeface="Calibri" pitchFamily="34" charset="-120"/>
              </a:rPr>
              <a:t>NEEDS
</a:t>
            </a:r>
            <a:r>
              <a:rPr lang="en-US" sz="1350" dirty="0">
                <a:solidFill>
                  <a:srgbClr val="1C2E22"/>
                </a:solidFill>
                <a:latin typeface="Calibri" pitchFamily="34" charset="0"/>
                <a:ea typeface="Calibri" pitchFamily="34" charset="-122"/>
                <a:cs typeface="Calibri" pitchFamily="34" charset="-120"/>
              </a:rPr>
              <a:t>Evidence for listing, delisting and supplier negotiations.</a:t>
            </a:r>
            <a:endParaRPr lang="en-US" sz="1100" dirty="0"/>
          </a:p>
        </p:txBody>
      </p:sp>
      <p:sp>
        <p:nvSpPr>
          <p:cNvPr id="19" name="Text 15"/>
          <p:cNvSpPr/>
          <p:nvPr/>
        </p:nvSpPr>
        <p:spPr>
          <a:xfrm>
            <a:off x="6720840" y="4864608"/>
            <a:ext cx="4297680" cy="822960"/>
          </a:xfrm>
          <a:prstGeom prst="rect">
            <a:avLst/>
          </a:prstGeom>
          <a:noFill/>
          <a:ln/>
        </p:spPr>
        <p:txBody>
          <a:bodyPr wrap="square" lIns="0" tIns="0" rIns="0" bIns="0" rtlCol="0" anchor="t"/>
          <a:lstStyle/>
          <a:p>
            <a:pPr marL="0" indent="0">
              <a:lnSpc>
                <a:spcPts val="1800"/>
              </a:lnSpc>
              <a:buNone/>
            </a:pPr>
            <a:r>
              <a:rPr lang="en-US" sz="1100" b="1" kern="0" spc="100" dirty="0">
                <a:solidFill>
                  <a:srgbClr val="E07A3F"/>
                </a:solidFill>
                <a:latin typeface="Calibri" pitchFamily="34" charset="0"/>
                <a:ea typeface="Calibri" pitchFamily="34" charset="-122"/>
                <a:cs typeface="Calibri" pitchFamily="34" charset="-120"/>
              </a:rPr>
              <a:t>PAIN
</a:t>
            </a:r>
            <a:r>
              <a:rPr lang="en-US" sz="1350" dirty="0">
                <a:solidFill>
                  <a:srgbClr val="1C2E22"/>
                </a:solidFill>
                <a:latin typeface="Calibri" pitchFamily="34" charset="0"/>
                <a:ea typeface="Calibri" pitchFamily="34" charset="-122"/>
                <a:cs typeface="Calibri" pitchFamily="34" charset="-120"/>
              </a:rPr>
              <a:t>Decisions lean on gut feel; loyal niche products stay hidden.</a:t>
            </a:r>
            <a:endParaRPr lang="en-US" sz="1100" dirty="0"/>
          </a:p>
        </p:txBody>
      </p:sp>
      <p:sp>
        <p:nvSpPr>
          <p:cNvPr id="20" name="Text 16"/>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21" name="Text 17"/>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04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331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7BB274"/>
                </a:solidFill>
                <a:latin typeface="Calibri" pitchFamily="34" charset="0"/>
                <a:ea typeface="Calibri" pitchFamily="34" charset="-122"/>
                <a:cs typeface="Calibri" pitchFamily="34" charset="-120"/>
              </a:rPr>
              <a:t>THE PRODUCT</a:t>
            </a:r>
            <a:endParaRPr lang="en-US" sz="12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An interactive Streamlit dashboard</a:t>
            </a:r>
            <a:endParaRPr lang="en-US" sz="3000" dirty="0"/>
          </a:p>
        </p:txBody>
      </p:sp>
      <p:sp>
        <p:nvSpPr>
          <p:cNvPr id="4" name="Text 2"/>
          <p:cNvSpPr/>
          <p:nvPr/>
        </p:nvSpPr>
        <p:spPr>
          <a:xfrm>
            <a:off x="777240" y="1627632"/>
            <a:ext cx="8686800" cy="457200"/>
          </a:xfrm>
          <a:prstGeom prst="rect">
            <a:avLst/>
          </a:prstGeom>
          <a:noFill/>
          <a:ln/>
        </p:spPr>
        <p:txBody>
          <a:bodyPr wrap="square" lIns="0" tIns="0" rIns="0" bIns="0" rtlCol="0" anchor="ctr"/>
          <a:lstStyle/>
          <a:p>
            <a:pPr marL="0" indent="0">
              <a:buNone/>
            </a:pPr>
            <a:r>
              <a:rPr lang="en-US" sz="1600" dirty="0">
                <a:solidFill>
                  <a:srgbClr val="A9C9A0"/>
                </a:solidFill>
                <a:latin typeface="Calibri" pitchFamily="34" charset="0"/>
                <a:ea typeface="Calibri" pitchFamily="34" charset="-122"/>
                <a:cs typeface="Calibri" pitchFamily="34" charset="-120"/>
              </a:rPr>
              <a:t>Built for exploration, not static reporting.</a:t>
            </a:r>
            <a:endParaRPr lang="en-US" sz="1600" dirty="0"/>
          </a:p>
        </p:txBody>
      </p:sp>
      <p:sp>
        <p:nvSpPr>
          <p:cNvPr id="5" name="Shape 3"/>
          <p:cNvSpPr/>
          <p:nvPr/>
        </p:nvSpPr>
        <p:spPr>
          <a:xfrm>
            <a:off x="777240" y="2377440"/>
            <a:ext cx="3456432" cy="3520440"/>
          </a:xfrm>
          <a:prstGeom prst="roundRect">
            <a:avLst>
              <a:gd name="adj" fmla="val 1852"/>
            </a:avLst>
          </a:prstGeom>
          <a:solidFill>
            <a:srgbClr val="1E4630"/>
          </a:solidFill>
          <a:ln w="12700">
            <a:solidFill>
              <a:srgbClr val="2F6E4F"/>
            </a:solidFill>
            <a:prstDash val="solid"/>
          </a:ln>
        </p:spPr>
        <p:txBody>
          <a:bodyPr/>
          <a:lstStyle/>
          <a:p>
            <a:endParaRPr lang="de-DE"/>
          </a:p>
        </p:txBody>
      </p:sp>
      <p:sp>
        <p:nvSpPr>
          <p:cNvPr id="6" name="Text 4"/>
          <p:cNvSpPr/>
          <p:nvPr/>
        </p:nvSpPr>
        <p:spPr>
          <a:xfrm>
            <a:off x="1143000" y="2670048"/>
            <a:ext cx="1097280" cy="548640"/>
          </a:xfrm>
          <a:prstGeom prst="rect">
            <a:avLst/>
          </a:prstGeom>
          <a:noFill/>
          <a:ln/>
        </p:spPr>
        <p:txBody>
          <a:bodyPr wrap="square" lIns="0" tIns="0" rIns="0" bIns="0" rtlCol="0" anchor="ctr"/>
          <a:lstStyle/>
          <a:p>
            <a:pPr marL="0" indent="0">
              <a:buNone/>
            </a:pPr>
            <a:r>
              <a:rPr lang="en-US" sz="2600" b="1" dirty="0">
                <a:solidFill>
                  <a:srgbClr val="E07A3F"/>
                </a:solidFill>
                <a:latin typeface="Georgia" pitchFamily="34" charset="0"/>
                <a:ea typeface="Georgia" pitchFamily="34" charset="-122"/>
                <a:cs typeface="Georgia" pitchFamily="34" charset="-120"/>
              </a:rPr>
              <a:t>01</a:t>
            </a:r>
            <a:endParaRPr lang="en-US" sz="2600" dirty="0"/>
          </a:p>
        </p:txBody>
      </p:sp>
      <p:sp>
        <p:nvSpPr>
          <p:cNvPr id="7" name="Text 5"/>
          <p:cNvSpPr/>
          <p:nvPr/>
        </p:nvSpPr>
        <p:spPr>
          <a:xfrm>
            <a:off x="1143000" y="3236976"/>
            <a:ext cx="2743200" cy="868680"/>
          </a:xfrm>
          <a:prstGeom prst="rect">
            <a:avLst/>
          </a:prstGeom>
          <a:noFill/>
          <a:ln/>
        </p:spPr>
        <p:txBody>
          <a:bodyPr wrap="square" lIns="0" tIns="0" rIns="0" bIns="0" rtlCol="0" anchor="t"/>
          <a:lstStyle/>
          <a:p>
            <a:pPr marL="0" indent="0">
              <a:lnSpc>
                <a:spcPts val="2300"/>
              </a:lnSpc>
              <a:buNone/>
            </a:pPr>
            <a:r>
              <a:rPr lang="en-US" sz="2000" b="1" dirty="0">
                <a:solidFill>
                  <a:srgbClr val="FFFFFF"/>
                </a:solidFill>
                <a:latin typeface="Georgia" pitchFamily="34" charset="0"/>
                <a:ea typeface="Georgia" pitchFamily="34" charset="-122"/>
                <a:cs typeface="Georgia" pitchFamily="34" charset="-120"/>
              </a:rPr>
              <a:t>KPI Overview</a:t>
            </a:r>
            <a:endParaRPr lang="en-US" sz="2000" dirty="0"/>
          </a:p>
        </p:txBody>
      </p:sp>
      <p:sp>
        <p:nvSpPr>
          <p:cNvPr id="8" name="Text 6"/>
          <p:cNvSpPr/>
          <p:nvPr/>
        </p:nvSpPr>
        <p:spPr>
          <a:xfrm>
            <a:off x="1170432" y="4297680"/>
            <a:ext cx="2788920" cy="13716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Orders, customers, products</a:t>
            </a:r>
            <a:endParaRPr lang="en-US" sz="1250" dirty="0"/>
          </a:p>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Reorder rate &amp; peak hour</a:t>
            </a:r>
            <a:endParaRPr lang="en-US" sz="1250" dirty="0"/>
          </a:p>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Top department</a:t>
            </a:r>
            <a:endParaRPr lang="en-US" sz="1250" dirty="0"/>
          </a:p>
        </p:txBody>
      </p:sp>
      <p:sp>
        <p:nvSpPr>
          <p:cNvPr id="9" name="Shape 7"/>
          <p:cNvSpPr/>
          <p:nvPr/>
        </p:nvSpPr>
        <p:spPr>
          <a:xfrm>
            <a:off x="4407408" y="2377440"/>
            <a:ext cx="3456432" cy="3520440"/>
          </a:xfrm>
          <a:prstGeom prst="roundRect">
            <a:avLst>
              <a:gd name="adj" fmla="val 1852"/>
            </a:avLst>
          </a:prstGeom>
          <a:solidFill>
            <a:srgbClr val="1E4630"/>
          </a:solidFill>
          <a:ln w="12700">
            <a:solidFill>
              <a:srgbClr val="2F6E4F"/>
            </a:solidFill>
            <a:prstDash val="solid"/>
          </a:ln>
        </p:spPr>
        <p:txBody>
          <a:bodyPr/>
          <a:lstStyle/>
          <a:p>
            <a:endParaRPr lang="de-DE"/>
          </a:p>
        </p:txBody>
      </p:sp>
      <p:sp>
        <p:nvSpPr>
          <p:cNvPr id="10" name="Text 8"/>
          <p:cNvSpPr/>
          <p:nvPr/>
        </p:nvSpPr>
        <p:spPr>
          <a:xfrm>
            <a:off x="4773168" y="2670048"/>
            <a:ext cx="1097280" cy="548640"/>
          </a:xfrm>
          <a:prstGeom prst="rect">
            <a:avLst/>
          </a:prstGeom>
          <a:noFill/>
          <a:ln/>
        </p:spPr>
        <p:txBody>
          <a:bodyPr wrap="square" lIns="0" tIns="0" rIns="0" bIns="0" rtlCol="0" anchor="ctr"/>
          <a:lstStyle/>
          <a:p>
            <a:pPr marL="0" indent="0">
              <a:buNone/>
            </a:pPr>
            <a:r>
              <a:rPr lang="en-US" sz="2600" b="1" dirty="0">
                <a:solidFill>
                  <a:srgbClr val="E07A3F"/>
                </a:solidFill>
                <a:latin typeface="Georgia" pitchFamily="34" charset="0"/>
                <a:ea typeface="Georgia" pitchFamily="34" charset="-122"/>
                <a:cs typeface="Georgia" pitchFamily="34" charset="-120"/>
              </a:rPr>
              <a:t>02</a:t>
            </a:r>
            <a:endParaRPr lang="en-US" sz="2600" dirty="0"/>
          </a:p>
        </p:txBody>
      </p:sp>
      <p:sp>
        <p:nvSpPr>
          <p:cNvPr id="11" name="Text 9"/>
          <p:cNvSpPr/>
          <p:nvPr/>
        </p:nvSpPr>
        <p:spPr>
          <a:xfrm>
            <a:off x="4773168" y="3236976"/>
            <a:ext cx="2743200" cy="868680"/>
          </a:xfrm>
          <a:prstGeom prst="rect">
            <a:avLst/>
          </a:prstGeom>
          <a:noFill/>
          <a:ln/>
        </p:spPr>
        <p:txBody>
          <a:bodyPr wrap="square" lIns="0" tIns="0" rIns="0" bIns="0" rtlCol="0" anchor="t"/>
          <a:lstStyle/>
          <a:p>
            <a:pPr marL="0" indent="0">
              <a:lnSpc>
                <a:spcPts val="2300"/>
              </a:lnSpc>
              <a:buNone/>
            </a:pPr>
            <a:r>
              <a:rPr lang="en-US" sz="2000" b="1" dirty="0">
                <a:solidFill>
                  <a:srgbClr val="FFFFFF"/>
                </a:solidFill>
                <a:latin typeface="Georgia" pitchFamily="34" charset="0"/>
                <a:ea typeface="Georgia" pitchFamily="34" charset="-122"/>
                <a:cs typeface="Georgia" pitchFamily="34" charset="-120"/>
              </a:rPr>
              <a:t>Product Development</a:t>
            </a:r>
            <a:endParaRPr lang="en-US" sz="2000" dirty="0"/>
          </a:p>
        </p:txBody>
      </p:sp>
      <p:sp>
        <p:nvSpPr>
          <p:cNvPr id="12" name="Text 10"/>
          <p:cNvSpPr/>
          <p:nvPr/>
        </p:nvSpPr>
        <p:spPr>
          <a:xfrm>
            <a:off x="4800600" y="4297680"/>
            <a:ext cx="2788920" cy="13716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Top sellers</a:t>
            </a:r>
            <a:endParaRPr lang="en-US" sz="1250" dirty="0"/>
          </a:p>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Department sales</a:t>
            </a:r>
            <a:endParaRPr lang="en-US" sz="1250" dirty="0"/>
          </a:p>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Products bought together</a:t>
            </a:r>
            <a:endParaRPr lang="en-US" sz="1250" dirty="0"/>
          </a:p>
        </p:txBody>
      </p:sp>
      <p:sp>
        <p:nvSpPr>
          <p:cNvPr id="13" name="Shape 11"/>
          <p:cNvSpPr/>
          <p:nvPr/>
        </p:nvSpPr>
        <p:spPr>
          <a:xfrm>
            <a:off x="8037576" y="2377440"/>
            <a:ext cx="3456432" cy="3520440"/>
          </a:xfrm>
          <a:prstGeom prst="roundRect">
            <a:avLst>
              <a:gd name="adj" fmla="val 1852"/>
            </a:avLst>
          </a:prstGeom>
          <a:solidFill>
            <a:srgbClr val="1E4630"/>
          </a:solidFill>
          <a:ln w="12700">
            <a:solidFill>
              <a:srgbClr val="2F6E4F"/>
            </a:solidFill>
            <a:prstDash val="solid"/>
          </a:ln>
        </p:spPr>
        <p:txBody>
          <a:bodyPr/>
          <a:lstStyle/>
          <a:p>
            <a:endParaRPr lang="de-DE"/>
          </a:p>
        </p:txBody>
      </p:sp>
      <p:sp>
        <p:nvSpPr>
          <p:cNvPr id="14" name="Text 12"/>
          <p:cNvSpPr/>
          <p:nvPr/>
        </p:nvSpPr>
        <p:spPr>
          <a:xfrm>
            <a:off x="8403336" y="2670048"/>
            <a:ext cx="1097280" cy="548640"/>
          </a:xfrm>
          <a:prstGeom prst="rect">
            <a:avLst/>
          </a:prstGeom>
          <a:noFill/>
          <a:ln/>
        </p:spPr>
        <p:txBody>
          <a:bodyPr wrap="square" lIns="0" tIns="0" rIns="0" bIns="0" rtlCol="0" anchor="ctr"/>
          <a:lstStyle/>
          <a:p>
            <a:pPr marL="0" indent="0">
              <a:buNone/>
            </a:pPr>
            <a:r>
              <a:rPr lang="en-US" sz="2600" b="1" dirty="0">
                <a:solidFill>
                  <a:srgbClr val="E07A3F"/>
                </a:solidFill>
                <a:latin typeface="Georgia" pitchFamily="34" charset="0"/>
                <a:ea typeface="Georgia" pitchFamily="34" charset="-122"/>
                <a:cs typeface="Georgia" pitchFamily="34" charset="-120"/>
              </a:rPr>
              <a:t>03</a:t>
            </a:r>
            <a:endParaRPr lang="en-US" sz="2600" dirty="0"/>
          </a:p>
        </p:txBody>
      </p:sp>
      <p:sp>
        <p:nvSpPr>
          <p:cNvPr id="15" name="Text 13"/>
          <p:cNvSpPr/>
          <p:nvPr/>
        </p:nvSpPr>
        <p:spPr>
          <a:xfrm>
            <a:off x="8403336" y="3236976"/>
            <a:ext cx="2743200" cy="868680"/>
          </a:xfrm>
          <a:prstGeom prst="rect">
            <a:avLst/>
          </a:prstGeom>
          <a:noFill/>
          <a:ln/>
        </p:spPr>
        <p:txBody>
          <a:bodyPr wrap="square" lIns="0" tIns="0" rIns="0" bIns="0" rtlCol="0" anchor="t"/>
          <a:lstStyle/>
          <a:p>
            <a:pPr marL="0" indent="0">
              <a:lnSpc>
                <a:spcPts val="2300"/>
              </a:lnSpc>
              <a:buNone/>
            </a:pPr>
            <a:r>
              <a:rPr lang="en-US" sz="2000" b="1" dirty="0">
                <a:solidFill>
                  <a:srgbClr val="FFFFFF"/>
                </a:solidFill>
                <a:latin typeface="Georgia" pitchFamily="34" charset="0"/>
                <a:ea typeface="Georgia" pitchFamily="34" charset="-122"/>
                <a:cs typeface="Georgia" pitchFamily="34" charset="-120"/>
              </a:rPr>
              <a:t>Customer Retention</a:t>
            </a:r>
            <a:endParaRPr lang="en-US" sz="2000" dirty="0"/>
          </a:p>
        </p:txBody>
      </p:sp>
      <p:sp>
        <p:nvSpPr>
          <p:cNvPr id="16" name="Text 14"/>
          <p:cNvSpPr/>
          <p:nvPr/>
        </p:nvSpPr>
        <p:spPr>
          <a:xfrm>
            <a:off x="8430768" y="4297680"/>
            <a:ext cx="2788920" cy="13716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Reorder rate</a:t>
            </a:r>
            <a:endParaRPr lang="en-US" sz="1250" dirty="0"/>
          </a:p>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Hidden gems</a:t>
            </a:r>
            <a:endParaRPr lang="en-US" sz="1250" dirty="0"/>
          </a:p>
          <a:p>
            <a:pPr marL="342900" indent="-342900">
              <a:lnSpc>
                <a:spcPts val="1500"/>
              </a:lnSpc>
              <a:spcAft>
                <a:spcPts val="700"/>
              </a:spcAft>
              <a:buSzPct val="100000"/>
              <a:buChar char="•"/>
            </a:pPr>
            <a:r>
              <a:rPr lang="en-US" sz="1250" dirty="0">
                <a:solidFill>
                  <a:srgbClr val="A9C9A0"/>
                </a:solidFill>
                <a:latin typeface="Calibri" pitchFamily="34" charset="0"/>
                <a:ea typeface="Calibri" pitchFamily="34" charset="-122"/>
                <a:cs typeface="Calibri" pitchFamily="34" charset="-120"/>
              </a:rPr>
              <a:t>Shopping-time heatmap</a:t>
            </a:r>
            <a:endParaRPr lang="en-US" sz="1250" dirty="0"/>
          </a:p>
        </p:txBody>
      </p:sp>
      <p:sp>
        <p:nvSpPr>
          <p:cNvPr id="17" name="Text 15"/>
          <p:cNvSpPr/>
          <p:nvPr/>
        </p:nvSpPr>
        <p:spPr>
          <a:xfrm>
            <a:off x="777240" y="6126480"/>
            <a:ext cx="8229600" cy="320040"/>
          </a:xfrm>
          <a:prstGeom prst="rect">
            <a:avLst/>
          </a:prstGeom>
          <a:noFill/>
          <a:ln/>
        </p:spPr>
        <p:txBody>
          <a:bodyPr wrap="square" lIns="0" tIns="0" rIns="0" bIns="0" rtlCol="0" anchor="ctr"/>
          <a:lstStyle/>
          <a:p>
            <a:pPr marL="0" indent="0">
              <a:buNone/>
            </a:pPr>
            <a:r>
              <a:rPr lang="en-US" sz="1200" i="1" dirty="0">
                <a:solidFill>
                  <a:srgbClr val="7BB274"/>
                </a:solidFill>
                <a:latin typeface="Calibri" pitchFamily="34" charset="0"/>
                <a:ea typeface="Calibri" pitchFamily="34" charset="-122"/>
                <a:cs typeface="Calibri" pitchFamily="34" charset="-120"/>
              </a:rPr>
              <a:t>Run it locally:  streamlit run deployment/app.py</a:t>
            </a:r>
            <a:endParaRPr lang="en-US" sz="1200" dirty="0"/>
          </a:p>
        </p:txBody>
      </p:sp>
      <p:sp>
        <p:nvSpPr>
          <p:cNvPr id="18" name="Text 16"/>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9DB5A4"/>
                </a:solidFill>
                <a:latin typeface="Calibri" pitchFamily="34" charset="0"/>
                <a:ea typeface="Calibri" pitchFamily="34" charset="-122"/>
                <a:cs typeface="Calibri" pitchFamily="34" charset="-120"/>
              </a:rPr>
              <a:t>Grocery Product Placement Analysis  ·  Group 11</a:t>
            </a:r>
            <a:endParaRPr lang="en-US" sz="900" dirty="0"/>
          </a:p>
        </p:txBody>
      </p:sp>
      <p:sp>
        <p:nvSpPr>
          <p:cNvPr id="19" name="Text 17"/>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9DB5A4"/>
                </a:solidFill>
                <a:latin typeface="Calibri" pitchFamily="34" charset="0"/>
                <a:ea typeface="Calibri" pitchFamily="34" charset="-122"/>
                <a:cs typeface="Calibri" pitchFamily="34" charset="-120"/>
              </a:rPr>
              <a:t>05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RESULT 01 · PRODUCT DEVELOPMENT</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Fresh produce owns the top of the basket</a:t>
            </a:r>
            <a:endParaRPr lang="en-US" sz="3000" dirty="0"/>
          </a:p>
        </p:txBody>
      </p:sp>
      <p:pic>
        <p:nvPicPr>
          <p:cNvPr id="4" name="Image 0" descr="assets/chart_top_sellers.png"/>
          <p:cNvPicPr>
            <a:picLocks noChangeAspect="1"/>
          </p:cNvPicPr>
          <p:nvPr/>
        </p:nvPicPr>
        <p:blipFill>
          <a:blip r:embed="rId3"/>
          <a:stretch>
            <a:fillRect/>
          </a:stretch>
        </p:blipFill>
        <p:spPr>
          <a:xfrm>
            <a:off x="777240" y="1988820"/>
            <a:ext cx="6797650" cy="4114800"/>
          </a:xfrm>
          <a:prstGeom prst="rect">
            <a:avLst/>
          </a:prstGeom>
        </p:spPr>
      </p:pic>
      <p:sp>
        <p:nvSpPr>
          <p:cNvPr id="5" name="Shape 2"/>
          <p:cNvSpPr/>
          <p:nvPr/>
        </p:nvSpPr>
        <p:spPr>
          <a:xfrm>
            <a:off x="8123530" y="2217420"/>
            <a:ext cx="64008" cy="3657600"/>
          </a:xfrm>
          <a:prstGeom prst="rect">
            <a:avLst/>
          </a:prstGeom>
          <a:solidFill>
            <a:srgbClr val="E07A3F"/>
          </a:solidFill>
          <a:ln/>
        </p:spPr>
        <p:txBody>
          <a:bodyPr/>
          <a:lstStyle/>
          <a:p>
            <a:endParaRPr lang="de-DE"/>
          </a:p>
        </p:txBody>
      </p:sp>
      <p:sp>
        <p:nvSpPr>
          <p:cNvPr id="6" name="Text 3"/>
          <p:cNvSpPr/>
          <p:nvPr/>
        </p:nvSpPr>
        <p:spPr>
          <a:xfrm>
            <a:off x="8416138" y="1988820"/>
            <a:ext cx="2998318" cy="4114800"/>
          </a:xfrm>
          <a:prstGeom prst="rect">
            <a:avLst/>
          </a:prstGeom>
          <a:noFill/>
          <a:ln/>
        </p:spPr>
        <p:txBody>
          <a:bodyPr wrap="square" lIns="0" tIns="0" rIns="0" bIns="0" rtlCol="0" anchor="ctr"/>
          <a:lstStyle/>
          <a:p>
            <a:pPr marL="0" indent="0">
              <a:lnSpc>
                <a:spcPts val="2600"/>
              </a:lnSpc>
              <a:spcAft>
                <a:spcPts val="1000"/>
              </a:spcAft>
              <a:buNone/>
            </a:pPr>
            <a:r>
              <a:rPr lang="en-US" sz="1150" b="1" kern="0" spc="200" dirty="0">
                <a:solidFill>
                  <a:srgbClr val="2F6E4F"/>
                </a:solidFill>
                <a:latin typeface="Calibri" pitchFamily="34" charset="0"/>
                <a:ea typeface="Calibri" pitchFamily="34" charset="-122"/>
                <a:cs typeface="Calibri" pitchFamily="34" charset="-120"/>
              </a:rPr>
              <a:t>WHAT WE FOUND
</a:t>
            </a:r>
            <a:r>
              <a:rPr lang="en-US" sz="2100" b="1" dirty="0">
                <a:solidFill>
                  <a:srgbClr val="1C2E22"/>
                </a:solidFill>
                <a:latin typeface="Georgia" pitchFamily="34" charset="0"/>
                <a:ea typeface="Georgia" pitchFamily="34" charset="-122"/>
                <a:cs typeface="Georgia" pitchFamily="34" charset="-120"/>
              </a:rPr>
              <a:t>Every one of the top 15 products is fresh fruit or vegetables.</a:t>
            </a:r>
            <a:endParaRPr lang="en-US" sz="1150" dirty="0"/>
          </a:p>
        </p:txBody>
      </p:sp>
      <p:sp>
        <p:nvSpPr>
          <p:cNvPr id="8" name="Text 4"/>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9" name="Text 5"/>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06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RESULT 02 · PRODUCT DEVELOPMENT</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Produce drives almost a third of all volume</a:t>
            </a:r>
            <a:endParaRPr lang="en-US" sz="3000" dirty="0"/>
          </a:p>
        </p:txBody>
      </p:sp>
      <p:pic>
        <p:nvPicPr>
          <p:cNvPr id="4" name="Image 0" descr="assets/chart_department_sales.png"/>
          <p:cNvPicPr>
            <a:picLocks noChangeAspect="1"/>
          </p:cNvPicPr>
          <p:nvPr/>
        </p:nvPicPr>
        <p:blipFill>
          <a:blip r:embed="rId3"/>
          <a:stretch>
            <a:fillRect/>
          </a:stretch>
        </p:blipFill>
        <p:spPr>
          <a:xfrm>
            <a:off x="777240" y="1897380"/>
            <a:ext cx="6081217" cy="4297680"/>
          </a:xfrm>
          <a:prstGeom prst="rect">
            <a:avLst/>
          </a:prstGeom>
        </p:spPr>
      </p:pic>
      <p:sp>
        <p:nvSpPr>
          <p:cNvPr id="5" name="Shape 2"/>
          <p:cNvSpPr/>
          <p:nvPr/>
        </p:nvSpPr>
        <p:spPr>
          <a:xfrm>
            <a:off x="7407097" y="2125980"/>
            <a:ext cx="64008" cy="3840480"/>
          </a:xfrm>
          <a:prstGeom prst="rect">
            <a:avLst/>
          </a:prstGeom>
          <a:solidFill>
            <a:srgbClr val="E07A3F"/>
          </a:solidFill>
          <a:ln/>
        </p:spPr>
        <p:txBody>
          <a:bodyPr/>
          <a:lstStyle/>
          <a:p>
            <a:endParaRPr lang="de-DE"/>
          </a:p>
        </p:txBody>
      </p:sp>
      <p:sp>
        <p:nvSpPr>
          <p:cNvPr id="6" name="Text 3"/>
          <p:cNvSpPr/>
          <p:nvPr/>
        </p:nvSpPr>
        <p:spPr>
          <a:xfrm>
            <a:off x="7699705" y="1897380"/>
            <a:ext cx="3714750" cy="4297680"/>
          </a:xfrm>
          <a:prstGeom prst="rect">
            <a:avLst/>
          </a:prstGeom>
          <a:noFill/>
          <a:ln/>
        </p:spPr>
        <p:txBody>
          <a:bodyPr wrap="square" lIns="0" tIns="0" rIns="0" bIns="0" rtlCol="0" anchor="ctr"/>
          <a:lstStyle/>
          <a:p>
            <a:pPr marL="0" indent="0">
              <a:lnSpc>
                <a:spcPts val="2600"/>
              </a:lnSpc>
              <a:spcAft>
                <a:spcPts val="1000"/>
              </a:spcAft>
              <a:buNone/>
            </a:pPr>
            <a:r>
              <a:rPr lang="en-US" sz="1150" b="1" kern="0" spc="200" dirty="0">
                <a:solidFill>
                  <a:srgbClr val="2F6E4F"/>
                </a:solidFill>
                <a:latin typeface="Calibri" pitchFamily="34" charset="0"/>
                <a:ea typeface="Calibri" pitchFamily="34" charset="-122"/>
                <a:cs typeface="Calibri" pitchFamily="34" charset="-120"/>
              </a:rPr>
              <a:t>WHAT WE FOUND
</a:t>
            </a:r>
            <a:r>
              <a:rPr lang="en-US" sz="2100" b="1" dirty="0">
                <a:solidFill>
                  <a:srgbClr val="1C2E22"/>
                </a:solidFill>
                <a:latin typeface="Georgia" pitchFamily="34" charset="0"/>
                <a:ea typeface="Georgia" pitchFamily="34" charset="-122"/>
                <a:cs typeface="Georgia" pitchFamily="34" charset="-120"/>
              </a:rPr>
              <a:t>Produce and Dairy &amp; Eggs dwarf every other department.</a:t>
            </a:r>
            <a:endParaRPr lang="en-US" sz="1150" dirty="0"/>
          </a:p>
        </p:txBody>
      </p:sp>
      <p:sp>
        <p:nvSpPr>
          <p:cNvPr id="8" name="Text 4"/>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9" name="Text 5"/>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07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RESULT 03 · PRODUCT DEVELOPMENT</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Co-purchase analysis reveals natural baskets</a:t>
            </a:r>
            <a:endParaRPr lang="en-US" sz="3000" dirty="0"/>
          </a:p>
        </p:txBody>
      </p:sp>
      <p:pic>
        <p:nvPicPr>
          <p:cNvPr id="4" name="Image 0" descr="assets/chart_network.png"/>
          <p:cNvPicPr>
            <a:picLocks noChangeAspect="1"/>
          </p:cNvPicPr>
          <p:nvPr/>
        </p:nvPicPr>
        <p:blipFill>
          <a:blip r:embed="rId3"/>
          <a:stretch>
            <a:fillRect/>
          </a:stretch>
        </p:blipFill>
        <p:spPr>
          <a:xfrm>
            <a:off x="777240" y="1810512"/>
            <a:ext cx="5845119" cy="4434840"/>
          </a:xfrm>
          <a:prstGeom prst="rect">
            <a:avLst/>
          </a:prstGeom>
        </p:spPr>
      </p:pic>
      <p:sp>
        <p:nvSpPr>
          <p:cNvPr id="5" name="Shape 2"/>
          <p:cNvSpPr/>
          <p:nvPr/>
        </p:nvSpPr>
        <p:spPr>
          <a:xfrm>
            <a:off x="7170999" y="1920240"/>
            <a:ext cx="64008" cy="1325880"/>
          </a:xfrm>
          <a:prstGeom prst="rect">
            <a:avLst/>
          </a:prstGeom>
          <a:solidFill>
            <a:srgbClr val="E07A3F"/>
          </a:solidFill>
          <a:ln/>
        </p:spPr>
        <p:txBody>
          <a:bodyPr/>
          <a:lstStyle/>
          <a:p>
            <a:endParaRPr lang="de-DE"/>
          </a:p>
        </p:txBody>
      </p:sp>
      <p:sp>
        <p:nvSpPr>
          <p:cNvPr id="6" name="Text 3"/>
          <p:cNvSpPr/>
          <p:nvPr/>
        </p:nvSpPr>
        <p:spPr>
          <a:xfrm>
            <a:off x="7463607" y="1901952"/>
            <a:ext cx="3950848" cy="1417320"/>
          </a:xfrm>
          <a:prstGeom prst="rect">
            <a:avLst/>
          </a:prstGeom>
          <a:noFill/>
          <a:ln/>
        </p:spPr>
        <p:txBody>
          <a:bodyPr wrap="square" lIns="0" tIns="0" rIns="0" bIns="0" rtlCol="0" anchor="t"/>
          <a:lstStyle/>
          <a:p>
            <a:pPr marL="0" indent="0">
              <a:lnSpc>
                <a:spcPts val="2300"/>
              </a:lnSpc>
              <a:spcAft>
                <a:spcPts val="900"/>
              </a:spcAft>
              <a:buNone/>
            </a:pPr>
            <a:r>
              <a:rPr lang="en-US" sz="1150" b="1" kern="0" spc="200" dirty="0">
                <a:solidFill>
                  <a:srgbClr val="2F6E4F"/>
                </a:solidFill>
                <a:latin typeface="Calibri" pitchFamily="34" charset="0"/>
                <a:ea typeface="Calibri" pitchFamily="34" charset="-122"/>
                <a:cs typeface="Calibri" pitchFamily="34" charset="-120"/>
              </a:rPr>
              <a:t>WHAT WE FOUND
</a:t>
            </a:r>
            <a:r>
              <a:rPr lang="en-US" sz="1900" b="1" dirty="0">
                <a:solidFill>
                  <a:srgbClr val="1C2E22"/>
                </a:solidFill>
                <a:latin typeface="Georgia" pitchFamily="34" charset="0"/>
                <a:ea typeface="Georgia" pitchFamily="34" charset="-122"/>
                <a:cs typeface="Georgia" pitchFamily="34" charset="-120"/>
              </a:rPr>
              <a:t>Co-purchase patterns fall into three natural baskets.</a:t>
            </a:r>
            <a:endParaRPr lang="en-US" sz="1150" dirty="0"/>
          </a:p>
        </p:txBody>
      </p:sp>
      <p:sp>
        <p:nvSpPr>
          <p:cNvPr id="7" name="Shape 4"/>
          <p:cNvSpPr/>
          <p:nvPr/>
        </p:nvSpPr>
        <p:spPr>
          <a:xfrm>
            <a:off x="7481895" y="3639312"/>
            <a:ext cx="182880" cy="182880"/>
          </a:xfrm>
          <a:prstGeom prst="ellipse">
            <a:avLst/>
          </a:prstGeom>
          <a:solidFill>
            <a:srgbClr val="2F6E4F"/>
          </a:solidFill>
          <a:ln/>
        </p:spPr>
        <p:txBody>
          <a:bodyPr/>
          <a:lstStyle/>
          <a:p>
            <a:endParaRPr lang="de-DE"/>
          </a:p>
        </p:txBody>
      </p:sp>
      <p:sp>
        <p:nvSpPr>
          <p:cNvPr id="8" name="Text 5"/>
          <p:cNvSpPr/>
          <p:nvPr/>
        </p:nvSpPr>
        <p:spPr>
          <a:xfrm>
            <a:off x="7792791" y="3575304"/>
            <a:ext cx="3329056" cy="640080"/>
          </a:xfrm>
          <a:prstGeom prst="rect">
            <a:avLst/>
          </a:prstGeom>
          <a:noFill/>
          <a:ln/>
        </p:spPr>
        <p:txBody>
          <a:bodyPr wrap="square" lIns="0" tIns="0" rIns="0" bIns="0" rtlCol="0" anchor="t"/>
          <a:lstStyle/>
          <a:p>
            <a:pPr marL="0" indent="0">
              <a:lnSpc>
                <a:spcPts val="1400"/>
              </a:lnSpc>
              <a:buNone/>
            </a:pPr>
            <a:r>
              <a:rPr lang="en-US" sz="1300" b="1" dirty="0">
                <a:solidFill>
                  <a:srgbClr val="1C2E22"/>
                </a:solidFill>
                <a:latin typeface="Calibri" pitchFamily="34" charset="0"/>
                <a:ea typeface="Calibri" pitchFamily="34" charset="-122"/>
                <a:cs typeface="Calibri" pitchFamily="34" charset="-120"/>
              </a:rPr>
              <a:t>Fresh vegetables &amp; aromatics
</a:t>
            </a:r>
            <a:r>
              <a:rPr lang="en-US" sz="1100" dirty="0">
                <a:solidFill>
                  <a:srgbClr val="6B7A6E"/>
                </a:solidFill>
                <a:latin typeface="Calibri" pitchFamily="34" charset="0"/>
                <a:ea typeface="Calibri" pitchFamily="34" charset="-122"/>
                <a:cs typeface="Calibri" pitchFamily="34" charset="-120"/>
              </a:rPr>
              <a:t>spinach, avocado, onion, garlic, lemon</a:t>
            </a:r>
            <a:endParaRPr lang="en-US" sz="1300" dirty="0"/>
          </a:p>
        </p:txBody>
      </p:sp>
      <p:sp>
        <p:nvSpPr>
          <p:cNvPr id="9" name="Shape 6"/>
          <p:cNvSpPr/>
          <p:nvPr/>
        </p:nvSpPr>
        <p:spPr>
          <a:xfrm>
            <a:off x="7481895" y="4352544"/>
            <a:ext cx="182880" cy="182880"/>
          </a:xfrm>
          <a:prstGeom prst="ellipse">
            <a:avLst/>
          </a:prstGeom>
          <a:solidFill>
            <a:srgbClr val="E07A3F"/>
          </a:solidFill>
          <a:ln/>
        </p:spPr>
        <p:txBody>
          <a:bodyPr/>
          <a:lstStyle/>
          <a:p>
            <a:endParaRPr lang="de-DE"/>
          </a:p>
        </p:txBody>
      </p:sp>
      <p:sp>
        <p:nvSpPr>
          <p:cNvPr id="10" name="Text 7"/>
          <p:cNvSpPr/>
          <p:nvPr/>
        </p:nvSpPr>
        <p:spPr>
          <a:xfrm>
            <a:off x="7792791" y="4288536"/>
            <a:ext cx="3329056" cy="640080"/>
          </a:xfrm>
          <a:prstGeom prst="rect">
            <a:avLst/>
          </a:prstGeom>
          <a:noFill/>
          <a:ln/>
        </p:spPr>
        <p:txBody>
          <a:bodyPr wrap="square" lIns="0" tIns="0" rIns="0" bIns="0" rtlCol="0" anchor="t"/>
          <a:lstStyle/>
          <a:p>
            <a:pPr marL="0" indent="0">
              <a:lnSpc>
                <a:spcPts val="1400"/>
              </a:lnSpc>
              <a:buNone/>
            </a:pPr>
            <a:r>
              <a:rPr lang="en-US" sz="1300" b="1" dirty="0">
                <a:solidFill>
                  <a:srgbClr val="1C2E22"/>
                </a:solidFill>
                <a:latin typeface="Calibri" pitchFamily="34" charset="0"/>
                <a:ea typeface="Calibri" pitchFamily="34" charset="-122"/>
                <a:cs typeface="Calibri" pitchFamily="34" charset="-120"/>
              </a:rPr>
              <a:t>Everyday fruit &amp; milk
</a:t>
            </a:r>
            <a:r>
              <a:rPr lang="en-US" sz="1100" dirty="0">
                <a:solidFill>
                  <a:srgbClr val="6B7A6E"/>
                </a:solidFill>
                <a:latin typeface="Calibri" pitchFamily="34" charset="0"/>
                <a:ea typeface="Calibri" pitchFamily="34" charset="-122"/>
                <a:cs typeface="Calibri" pitchFamily="34" charset="-120"/>
              </a:rPr>
              <a:t>banana, berries, apples, whole milk</a:t>
            </a:r>
            <a:endParaRPr lang="en-US" sz="1300" dirty="0"/>
          </a:p>
        </p:txBody>
      </p:sp>
      <p:sp>
        <p:nvSpPr>
          <p:cNvPr id="11" name="Shape 8"/>
          <p:cNvSpPr/>
          <p:nvPr/>
        </p:nvSpPr>
        <p:spPr>
          <a:xfrm>
            <a:off x="7481895" y="5065776"/>
            <a:ext cx="182880" cy="182880"/>
          </a:xfrm>
          <a:prstGeom prst="ellipse">
            <a:avLst/>
          </a:prstGeom>
          <a:solidFill>
            <a:srgbClr val="5B8DB8"/>
          </a:solidFill>
          <a:ln/>
        </p:spPr>
        <p:txBody>
          <a:bodyPr/>
          <a:lstStyle/>
          <a:p>
            <a:endParaRPr lang="de-DE"/>
          </a:p>
        </p:txBody>
      </p:sp>
      <p:sp>
        <p:nvSpPr>
          <p:cNvPr id="12" name="Text 9"/>
          <p:cNvSpPr/>
          <p:nvPr/>
        </p:nvSpPr>
        <p:spPr>
          <a:xfrm>
            <a:off x="7792791" y="5001768"/>
            <a:ext cx="3329056" cy="640080"/>
          </a:xfrm>
          <a:prstGeom prst="rect">
            <a:avLst/>
          </a:prstGeom>
          <a:noFill/>
          <a:ln/>
        </p:spPr>
        <p:txBody>
          <a:bodyPr wrap="square" lIns="0" tIns="0" rIns="0" bIns="0" rtlCol="0" anchor="t"/>
          <a:lstStyle/>
          <a:p>
            <a:pPr marL="0" indent="0">
              <a:lnSpc>
                <a:spcPts val="1400"/>
              </a:lnSpc>
              <a:buNone/>
            </a:pPr>
            <a:r>
              <a:rPr lang="en-US" sz="1300" b="1" dirty="0">
                <a:solidFill>
                  <a:srgbClr val="1C2E22"/>
                </a:solidFill>
                <a:latin typeface="Calibri" pitchFamily="34" charset="0"/>
                <a:ea typeface="Calibri" pitchFamily="34" charset="-122"/>
                <a:cs typeface="Calibri" pitchFamily="34" charset="-120"/>
              </a:rPr>
              <a:t>The organic basket
</a:t>
            </a:r>
            <a:r>
              <a:rPr lang="en-US" sz="1100" dirty="0">
                <a:solidFill>
                  <a:srgbClr val="6B7A6E"/>
                </a:solidFill>
                <a:latin typeface="Calibri" pitchFamily="34" charset="0"/>
                <a:ea typeface="Calibri" pitchFamily="34" charset="-122"/>
                <a:cs typeface="Calibri" pitchFamily="34" charset="-120"/>
              </a:rPr>
              <a:t>organic bananas, berries, almond milk</a:t>
            </a:r>
            <a:endParaRPr lang="en-US" sz="1300" dirty="0"/>
          </a:p>
        </p:txBody>
      </p:sp>
      <p:sp>
        <p:nvSpPr>
          <p:cNvPr id="13" name="Text 10"/>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14" name="Text 11"/>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08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RESULT 04 · CUSTOMER RETENTION</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Customer loyalty is built on milk</a:t>
            </a:r>
            <a:endParaRPr lang="en-US" sz="3000" dirty="0"/>
          </a:p>
        </p:txBody>
      </p:sp>
      <p:pic>
        <p:nvPicPr>
          <p:cNvPr id="4" name="Image 0" descr="assets/chart_reorder_rate.png"/>
          <p:cNvPicPr>
            <a:picLocks noChangeAspect="1"/>
          </p:cNvPicPr>
          <p:nvPr/>
        </p:nvPicPr>
        <p:blipFill>
          <a:blip r:embed="rId3"/>
          <a:stretch>
            <a:fillRect/>
          </a:stretch>
        </p:blipFill>
        <p:spPr>
          <a:xfrm>
            <a:off x="777240" y="1988820"/>
            <a:ext cx="6797650" cy="4114800"/>
          </a:xfrm>
          <a:prstGeom prst="rect">
            <a:avLst/>
          </a:prstGeom>
        </p:spPr>
      </p:pic>
      <p:sp>
        <p:nvSpPr>
          <p:cNvPr id="5" name="Shape 2"/>
          <p:cNvSpPr/>
          <p:nvPr/>
        </p:nvSpPr>
        <p:spPr>
          <a:xfrm>
            <a:off x="8123530" y="2217420"/>
            <a:ext cx="64008" cy="3657600"/>
          </a:xfrm>
          <a:prstGeom prst="rect">
            <a:avLst/>
          </a:prstGeom>
          <a:solidFill>
            <a:srgbClr val="E07A3F"/>
          </a:solidFill>
          <a:ln/>
        </p:spPr>
        <p:txBody>
          <a:bodyPr/>
          <a:lstStyle/>
          <a:p>
            <a:endParaRPr lang="de-DE"/>
          </a:p>
        </p:txBody>
      </p:sp>
      <p:sp>
        <p:nvSpPr>
          <p:cNvPr id="6" name="Text 3"/>
          <p:cNvSpPr/>
          <p:nvPr/>
        </p:nvSpPr>
        <p:spPr>
          <a:xfrm>
            <a:off x="8416138" y="1988820"/>
            <a:ext cx="2998318" cy="4114800"/>
          </a:xfrm>
          <a:prstGeom prst="rect">
            <a:avLst/>
          </a:prstGeom>
          <a:noFill/>
          <a:ln/>
        </p:spPr>
        <p:txBody>
          <a:bodyPr wrap="square" lIns="0" tIns="0" rIns="0" bIns="0" rtlCol="0" anchor="ctr"/>
          <a:lstStyle/>
          <a:p>
            <a:pPr marL="0" indent="0">
              <a:lnSpc>
                <a:spcPts val="2600"/>
              </a:lnSpc>
              <a:spcAft>
                <a:spcPts val="1000"/>
              </a:spcAft>
              <a:buNone/>
            </a:pPr>
            <a:r>
              <a:rPr lang="en-US" sz="1150" b="1" kern="0" spc="200" dirty="0">
                <a:solidFill>
                  <a:srgbClr val="2F6E4F"/>
                </a:solidFill>
                <a:latin typeface="Calibri" pitchFamily="34" charset="0"/>
                <a:ea typeface="Calibri" pitchFamily="34" charset="-122"/>
                <a:cs typeface="Calibri" pitchFamily="34" charset="-120"/>
              </a:rPr>
              <a:t>WHAT WE FOUND
</a:t>
            </a:r>
            <a:r>
              <a:rPr lang="en-US" sz="2100" b="1" dirty="0">
                <a:solidFill>
                  <a:srgbClr val="1C2E22"/>
                </a:solidFill>
                <a:latin typeface="Georgia" pitchFamily="34" charset="0"/>
                <a:ea typeface="Georgia" pitchFamily="34" charset="-122"/>
                <a:cs typeface="Georgia" pitchFamily="34" charset="-120"/>
              </a:rPr>
              <a:t>Loyalty runs on milk and water — 84 to 86% reorder.</a:t>
            </a:r>
            <a:endParaRPr lang="en-US" sz="1150" dirty="0"/>
          </a:p>
        </p:txBody>
      </p:sp>
      <p:sp>
        <p:nvSpPr>
          <p:cNvPr id="8" name="Text 4"/>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9" name="Text 5"/>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09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RESULT 05 · CUSTOMER RETENTION</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Hidden gems: small categories, loyal fans</a:t>
            </a:r>
            <a:endParaRPr lang="en-US" sz="3000" dirty="0"/>
          </a:p>
        </p:txBody>
      </p:sp>
      <p:pic>
        <p:nvPicPr>
          <p:cNvPr id="4" name="Image 0" descr="assets/chart_hidden_gems.png"/>
          <p:cNvPicPr>
            <a:picLocks noChangeAspect="1"/>
          </p:cNvPicPr>
          <p:nvPr/>
        </p:nvPicPr>
        <p:blipFill>
          <a:blip r:embed="rId3"/>
          <a:stretch>
            <a:fillRect/>
          </a:stretch>
        </p:blipFill>
        <p:spPr>
          <a:xfrm>
            <a:off x="777240" y="2171700"/>
            <a:ext cx="6752021" cy="3749040"/>
          </a:xfrm>
          <a:prstGeom prst="rect">
            <a:avLst/>
          </a:prstGeom>
        </p:spPr>
      </p:pic>
      <p:sp>
        <p:nvSpPr>
          <p:cNvPr id="5" name="Shape 2"/>
          <p:cNvSpPr/>
          <p:nvPr/>
        </p:nvSpPr>
        <p:spPr>
          <a:xfrm>
            <a:off x="8077901" y="2400300"/>
            <a:ext cx="64008" cy="3291840"/>
          </a:xfrm>
          <a:prstGeom prst="rect">
            <a:avLst/>
          </a:prstGeom>
          <a:solidFill>
            <a:srgbClr val="E07A3F"/>
          </a:solidFill>
          <a:ln/>
        </p:spPr>
        <p:txBody>
          <a:bodyPr/>
          <a:lstStyle/>
          <a:p>
            <a:endParaRPr lang="de-DE"/>
          </a:p>
        </p:txBody>
      </p:sp>
      <p:sp>
        <p:nvSpPr>
          <p:cNvPr id="6" name="Text 3"/>
          <p:cNvSpPr/>
          <p:nvPr/>
        </p:nvSpPr>
        <p:spPr>
          <a:xfrm>
            <a:off x="8370509" y="2171700"/>
            <a:ext cx="3043946" cy="3749040"/>
          </a:xfrm>
          <a:prstGeom prst="rect">
            <a:avLst/>
          </a:prstGeom>
          <a:noFill/>
          <a:ln/>
        </p:spPr>
        <p:txBody>
          <a:bodyPr wrap="square" lIns="0" tIns="0" rIns="0" bIns="0" rtlCol="0" anchor="ctr"/>
          <a:lstStyle/>
          <a:p>
            <a:pPr marL="0" indent="0">
              <a:lnSpc>
                <a:spcPts val="2600"/>
              </a:lnSpc>
              <a:spcAft>
                <a:spcPts val="1000"/>
              </a:spcAft>
              <a:buNone/>
            </a:pPr>
            <a:r>
              <a:rPr lang="en-US" sz="1150" b="1" kern="0" spc="200" dirty="0">
                <a:solidFill>
                  <a:srgbClr val="2F6E4F"/>
                </a:solidFill>
                <a:latin typeface="Calibri" pitchFamily="34" charset="0"/>
                <a:ea typeface="Calibri" pitchFamily="34" charset="-122"/>
                <a:cs typeface="Calibri" pitchFamily="34" charset="-120"/>
              </a:rPr>
              <a:t>WHAT WE FOUND
</a:t>
            </a:r>
            <a:r>
              <a:rPr lang="en-US" sz="2100" b="1" dirty="0">
                <a:solidFill>
                  <a:srgbClr val="1C2E22"/>
                </a:solidFill>
                <a:latin typeface="Georgia" pitchFamily="34" charset="0"/>
                <a:ea typeface="Georgia" pitchFamily="34" charset="-122"/>
                <a:cs typeface="Georgia" pitchFamily="34" charset="-120"/>
              </a:rPr>
              <a:t>Niche breads and deli items keep 78 to 83% of their buyers.</a:t>
            </a:r>
            <a:endParaRPr lang="en-US" sz="1150" dirty="0"/>
          </a:p>
        </p:txBody>
      </p:sp>
      <p:sp>
        <p:nvSpPr>
          <p:cNvPr id="8" name="Text 4"/>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9" name="Text 5"/>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RESULT 06 · CUSTOMER RETENTION</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Sunday and Monday mornings carry the week</a:t>
            </a:r>
            <a:endParaRPr lang="en-US" sz="3000" dirty="0"/>
          </a:p>
        </p:txBody>
      </p:sp>
      <p:pic>
        <p:nvPicPr>
          <p:cNvPr id="4" name="Image 0" descr="assets/chart_heatmap.png"/>
          <p:cNvPicPr>
            <a:picLocks noChangeAspect="1"/>
          </p:cNvPicPr>
          <p:nvPr/>
        </p:nvPicPr>
        <p:blipFill>
          <a:blip r:embed="rId3"/>
          <a:stretch>
            <a:fillRect/>
          </a:stretch>
        </p:blipFill>
        <p:spPr>
          <a:xfrm>
            <a:off x="1340968" y="1828800"/>
            <a:ext cx="9509760" cy="3423240"/>
          </a:xfrm>
          <a:prstGeom prst="rect">
            <a:avLst/>
          </a:prstGeom>
        </p:spPr>
      </p:pic>
      <p:sp>
        <p:nvSpPr>
          <p:cNvPr id="5" name="Shape 2"/>
          <p:cNvSpPr/>
          <p:nvPr/>
        </p:nvSpPr>
        <p:spPr>
          <a:xfrm>
            <a:off x="777240" y="5532120"/>
            <a:ext cx="64008" cy="566928"/>
          </a:xfrm>
          <a:prstGeom prst="rect">
            <a:avLst/>
          </a:prstGeom>
          <a:solidFill>
            <a:srgbClr val="E07A3F"/>
          </a:solidFill>
          <a:ln/>
        </p:spPr>
        <p:txBody>
          <a:bodyPr/>
          <a:lstStyle/>
          <a:p>
            <a:endParaRPr lang="de-DE"/>
          </a:p>
        </p:txBody>
      </p:sp>
      <p:sp>
        <p:nvSpPr>
          <p:cNvPr id="6" name="Text 3"/>
          <p:cNvSpPr/>
          <p:nvPr/>
        </p:nvSpPr>
        <p:spPr>
          <a:xfrm>
            <a:off x="1069848" y="5504688"/>
            <a:ext cx="10424160" cy="640080"/>
          </a:xfrm>
          <a:prstGeom prst="rect">
            <a:avLst/>
          </a:prstGeom>
          <a:noFill/>
          <a:ln/>
        </p:spPr>
        <p:txBody>
          <a:bodyPr wrap="square" lIns="0" tIns="0" rIns="0" bIns="0" rtlCol="0" anchor="ctr"/>
          <a:lstStyle/>
          <a:p>
            <a:pPr marL="0" indent="0">
              <a:lnSpc>
                <a:spcPts val="1900"/>
              </a:lnSpc>
              <a:buNone/>
            </a:pPr>
            <a:r>
              <a:rPr lang="en-US" sz="1150" b="1" kern="0" spc="200" dirty="0">
                <a:solidFill>
                  <a:srgbClr val="2F6E4F"/>
                </a:solidFill>
                <a:latin typeface="Calibri" pitchFamily="34" charset="0"/>
                <a:ea typeface="Calibri" pitchFamily="34" charset="-122"/>
                <a:cs typeface="Calibri" pitchFamily="34" charset="-120"/>
              </a:rPr>
              <a:t>WHAT WE FOUND   </a:t>
            </a:r>
          </a:p>
          <a:p>
            <a:pPr marL="0" indent="0">
              <a:lnSpc>
                <a:spcPts val="1900"/>
              </a:lnSpc>
              <a:buNone/>
            </a:pPr>
            <a:r>
              <a:rPr lang="en-US" sz="1600" b="1" dirty="0">
                <a:solidFill>
                  <a:srgbClr val="1C2E22"/>
                </a:solidFill>
                <a:latin typeface="Georgia" pitchFamily="34" charset="0"/>
                <a:ea typeface="Georgia" pitchFamily="34" charset="-122"/>
                <a:cs typeface="Georgia" pitchFamily="34" charset="-120"/>
              </a:rPr>
              <a:t>Orders cluster on Sunday and Monday, roughly 9:00 to 16:00 — and fall away sharply outside daytime hours.</a:t>
            </a:r>
            <a:endParaRPr lang="en-US" sz="1150" dirty="0"/>
          </a:p>
        </p:txBody>
      </p:sp>
      <p:sp>
        <p:nvSpPr>
          <p:cNvPr id="7" name="Text 4"/>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8" name="Text 5"/>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E07A3F"/>
                </a:solidFill>
                <a:latin typeface="Calibri" pitchFamily="34" charset="0"/>
                <a:ea typeface="Calibri" pitchFamily="34" charset="-122"/>
                <a:cs typeface="Calibri" pitchFamily="34" charset="-120"/>
              </a:rPr>
              <a:t>WHAT IT MEANS</a:t>
            </a:r>
            <a:endParaRPr lang="en-US" sz="1250" dirty="0"/>
          </a:p>
        </p:txBody>
      </p:sp>
      <p:sp>
        <p:nvSpPr>
          <p:cNvPr id="3" name="Text 1"/>
          <p:cNvSpPr/>
          <p:nvPr/>
        </p:nvSpPr>
        <p:spPr>
          <a:xfrm>
            <a:off x="777240" y="868680"/>
            <a:ext cx="10607040" cy="914400"/>
          </a:xfrm>
          <a:prstGeom prst="rect">
            <a:avLst/>
          </a:prstGeom>
          <a:noFill/>
          <a:ln/>
        </p:spPr>
        <p:txBody>
          <a:bodyPr wrap="square" lIns="0" tIns="0" rIns="0" bIns="0" rtlCol="0" anchor="t"/>
          <a:lstStyle/>
          <a:p>
            <a:pPr marL="0" indent="0" algn="l">
              <a:buNone/>
            </a:pPr>
            <a:r>
              <a:rPr lang="en-US" sz="3000" b="1" dirty="0">
                <a:solidFill>
                  <a:srgbClr val="1C2E22"/>
                </a:solidFill>
                <a:latin typeface="Georgia" pitchFamily="34" charset="0"/>
                <a:ea typeface="Georgia" pitchFamily="34" charset="-122"/>
                <a:cs typeface="Georgia" pitchFamily="34" charset="-120"/>
              </a:rPr>
              <a:t>From data to assortment decisions</a:t>
            </a:r>
            <a:endParaRPr lang="en-US" sz="3000" dirty="0"/>
          </a:p>
        </p:txBody>
      </p:sp>
      <p:sp>
        <p:nvSpPr>
          <p:cNvPr id="4" name="Shape 2"/>
          <p:cNvSpPr/>
          <p:nvPr/>
        </p:nvSpPr>
        <p:spPr>
          <a:xfrm>
            <a:off x="777240" y="1920240"/>
            <a:ext cx="2615184" cy="3977640"/>
          </a:xfrm>
          <a:prstGeom prst="roundRect">
            <a:avLst>
              <a:gd name="adj" fmla="val 2448"/>
            </a:avLst>
          </a:prstGeom>
          <a:solidFill>
            <a:srgbClr val="FFFFFF"/>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5" name="Shape 3"/>
          <p:cNvSpPr/>
          <p:nvPr/>
        </p:nvSpPr>
        <p:spPr>
          <a:xfrm>
            <a:off x="777240" y="1920240"/>
            <a:ext cx="2615184" cy="100584"/>
          </a:xfrm>
          <a:prstGeom prst="rect">
            <a:avLst/>
          </a:prstGeom>
          <a:solidFill>
            <a:srgbClr val="2F6E4F"/>
          </a:solidFill>
          <a:ln/>
        </p:spPr>
        <p:txBody>
          <a:bodyPr/>
          <a:lstStyle/>
          <a:p>
            <a:endParaRPr lang="de-DE"/>
          </a:p>
        </p:txBody>
      </p:sp>
      <p:sp>
        <p:nvSpPr>
          <p:cNvPr id="6" name="Text 4"/>
          <p:cNvSpPr/>
          <p:nvPr/>
        </p:nvSpPr>
        <p:spPr>
          <a:xfrm>
            <a:off x="1069848" y="2240280"/>
            <a:ext cx="2011680" cy="640080"/>
          </a:xfrm>
          <a:prstGeom prst="rect">
            <a:avLst/>
          </a:prstGeom>
          <a:noFill/>
          <a:ln/>
        </p:spPr>
        <p:txBody>
          <a:bodyPr wrap="square" lIns="0" tIns="0" rIns="0" bIns="0" rtlCol="0" anchor="ctr"/>
          <a:lstStyle/>
          <a:p>
            <a:pPr marL="0" indent="0">
              <a:buNone/>
            </a:pPr>
            <a:r>
              <a:rPr lang="en-US" sz="3400" b="1" dirty="0">
                <a:solidFill>
                  <a:srgbClr val="2F6E4F"/>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1069848" y="2971800"/>
            <a:ext cx="2103120" cy="822960"/>
          </a:xfrm>
          <a:prstGeom prst="rect">
            <a:avLst/>
          </a:prstGeom>
          <a:noFill/>
          <a:ln/>
        </p:spPr>
        <p:txBody>
          <a:bodyPr wrap="square" lIns="0" tIns="0" rIns="0" bIns="0" rtlCol="0" anchor="t"/>
          <a:lstStyle/>
          <a:p>
            <a:pPr marL="0" indent="0">
              <a:lnSpc>
                <a:spcPts val="2200"/>
              </a:lnSpc>
              <a:buNone/>
            </a:pPr>
            <a:r>
              <a:rPr lang="en-US" sz="1900" b="1" dirty="0">
                <a:solidFill>
                  <a:srgbClr val="1C2E22"/>
                </a:solidFill>
                <a:latin typeface="Georgia" pitchFamily="34" charset="0"/>
                <a:ea typeface="Georgia" pitchFamily="34" charset="-122"/>
                <a:cs typeface="Georgia" pitchFamily="34" charset="-120"/>
              </a:rPr>
              <a:t>Build on fresh</a:t>
            </a:r>
            <a:endParaRPr lang="en-US" sz="1900" dirty="0"/>
          </a:p>
        </p:txBody>
      </p:sp>
      <p:sp>
        <p:nvSpPr>
          <p:cNvPr id="8" name="Text 6"/>
          <p:cNvSpPr/>
          <p:nvPr/>
        </p:nvSpPr>
        <p:spPr>
          <a:xfrm>
            <a:off x="1069848" y="3886200"/>
            <a:ext cx="2103120" cy="1280160"/>
          </a:xfrm>
          <a:prstGeom prst="rect">
            <a:avLst/>
          </a:prstGeom>
          <a:noFill/>
          <a:ln/>
        </p:spPr>
        <p:txBody>
          <a:bodyPr wrap="square" lIns="0" tIns="0" rIns="0" bIns="0" rtlCol="0" anchor="t"/>
          <a:lstStyle/>
          <a:p>
            <a:pPr marL="0" indent="0">
              <a:lnSpc>
                <a:spcPts val="1800"/>
              </a:lnSpc>
              <a:buNone/>
            </a:pPr>
            <a:r>
              <a:rPr lang="en-US" sz="1350" dirty="0">
                <a:solidFill>
                  <a:srgbClr val="1C2E22"/>
                </a:solidFill>
                <a:latin typeface="Calibri" pitchFamily="34" charset="0"/>
                <a:ea typeface="Calibri" pitchFamily="34" charset="-122"/>
                <a:cs typeface="Calibri" pitchFamily="34" charset="-120"/>
              </a:rPr>
              <a:t>Produce and organic are the core.</a:t>
            </a:r>
            <a:endParaRPr lang="en-US" sz="1350" dirty="0"/>
          </a:p>
        </p:txBody>
      </p:sp>
      <p:sp>
        <p:nvSpPr>
          <p:cNvPr id="9" name="Text 7"/>
          <p:cNvSpPr/>
          <p:nvPr/>
        </p:nvSpPr>
        <p:spPr>
          <a:xfrm>
            <a:off x="1069848" y="5440680"/>
            <a:ext cx="2103120" cy="292608"/>
          </a:xfrm>
          <a:prstGeom prst="rect">
            <a:avLst/>
          </a:prstGeom>
          <a:noFill/>
          <a:ln/>
        </p:spPr>
        <p:txBody>
          <a:bodyPr wrap="square" lIns="0" tIns="0" rIns="0" bIns="0" rtlCol="0" anchor="ctr"/>
          <a:lstStyle/>
          <a:p>
            <a:pPr marL="0" indent="0">
              <a:buNone/>
            </a:pPr>
            <a:r>
              <a:rPr lang="en-US" sz="1000" b="1" kern="0" spc="150" dirty="0">
                <a:solidFill>
                  <a:srgbClr val="2F6E4F"/>
                </a:solidFill>
                <a:latin typeface="Calibri" pitchFamily="34" charset="0"/>
                <a:ea typeface="Calibri" pitchFamily="34" charset="-122"/>
                <a:cs typeface="Calibri" pitchFamily="34" charset="-120"/>
              </a:rPr>
              <a:t>FOR SANDRA</a:t>
            </a:r>
            <a:endParaRPr lang="en-US" sz="1000" dirty="0"/>
          </a:p>
        </p:txBody>
      </p:sp>
      <p:sp>
        <p:nvSpPr>
          <p:cNvPr id="10" name="Shape 8"/>
          <p:cNvSpPr/>
          <p:nvPr/>
        </p:nvSpPr>
        <p:spPr>
          <a:xfrm>
            <a:off x="3557016" y="1920240"/>
            <a:ext cx="2615184" cy="3977640"/>
          </a:xfrm>
          <a:prstGeom prst="roundRect">
            <a:avLst>
              <a:gd name="adj" fmla="val 2448"/>
            </a:avLst>
          </a:prstGeom>
          <a:solidFill>
            <a:srgbClr val="FFFFFF"/>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11" name="Shape 9"/>
          <p:cNvSpPr/>
          <p:nvPr/>
        </p:nvSpPr>
        <p:spPr>
          <a:xfrm>
            <a:off x="3557016" y="1920240"/>
            <a:ext cx="2615184" cy="100584"/>
          </a:xfrm>
          <a:prstGeom prst="rect">
            <a:avLst/>
          </a:prstGeom>
          <a:solidFill>
            <a:srgbClr val="E07A3F"/>
          </a:solidFill>
          <a:ln/>
        </p:spPr>
        <p:txBody>
          <a:bodyPr/>
          <a:lstStyle/>
          <a:p>
            <a:endParaRPr lang="de-DE"/>
          </a:p>
        </p:txBody>
      </p:sp>
      <p:sp>
        <p:nvSpPr>
          <p:cNvPr id="12" name="Text 10"/>
          <p:cNvSpPr/>
          <p:nvPr/>
        </p:nvSpPr>
        <p:spPr>
          <a:xfrm>
            <a:off x="3849624" y="2240280"/>
            <a:ext cx="2011680" cy="640080"/>
          </a:xfrm>
          <a:prstGeom prst="rect">
            <a:avLst/>
          </a:prstGeom>
          <a:noFill/>
          <a:ln/>
        </p:spPr>
        <p:txBody>
          <a:bodyPr wrap="square" lIns="0" tIns="0" rIns="0" bIns="0" rtlCol="0" anchor="ctr"/>
          <a:lstStyle/>
          <a:p>
            <a:pPr marL="0" indent="0">
              <a:buNone/>
            </a:pPr>
            <a:r>
              <a:rPr lang="en-US" sz="3400" b="1" dirty="0">
                <a:solidFill>
                  <a:srgbClr val="E07A3F"/>
                </a:solidFill>
                <a:latin typeface="Georgia" pitchFamily="34" charset="0"/>
                <a:ea typeface="Georgia" pitchFamily="34" charset="-122"/>
                <a:cs typeface="Georgia" pitchFamily="34" charset="-120"/>
              </a:rPr>
              <a:t>02</a:t>
            </a:r>
            <a:endParaRPr lang="en-US" sz="3400" dirty="0"/>
          </a:p>
        </p:txBody>
      </p:sp>
      <p:sp>
        <p:nvSpPr>
          <p:cNvPr id="13" name="Text 11"/>
          <p:cNvSpPr/>
          <p:nvPr/>
        </p:nvSpPr>
        <p:spPr>
          <a:xfrm>
            <a:off x="3849624" y="2971800"/>
            <a:ext cx="2103120" cy="822960"/>
          </a:xfrm>
          <a:prstGeom prst="rect">
            <a:avLst/>
          </a:prstGeom>
          <a:noFill/>
          <a:ln/>
        </p:spPr>
        <p:txBody>
          <a:bodyPr wrap="square" lIns="0" tIns="0" rIns="0" bIns="0" rtlCol="0" anchor="t"/>
          <a:lstStyle/>
          <a:p>
            <a:pPr marL="0" indent="0">
              <a:lnSpc>
                <a:spcPts val="2200"/>
              </a:lnSpc>
              <a:buNone/>
            </a:pPr>
            <a:r>
              <a:rPr lang="en-US" sz="1900" b="1" dirty="0">
                <a:solidFill>
                  <a:srgbClr val="1C2E22"/>
                </a:solidFill>
                <a:latin typeface="Georgia" pitchFamily="34" charset="0"/>
                <a:ea typeface="Georgia" pitchFamily="34" charset="-122"/>
                <a:cs typeface="Georgia" pitchFamily="34" charset="-120"/>
              </a:rPr>
              <a:t>Bundle the clusters</a:t>
            </a:r>
            <a:endParaRPr lang="en-US" sz="1900" dirty="0"/>
          </a:p>
        </p:txBody>
      </p:sp>
      <p:sp>
        <p:nvSpPr>
          <p:cNvPr id="14" name="Text 12"/>
          <p:cNvSpPr/>
          <p:nvPr/>
        </p:nvSpPr>
        <p:spPr>
          <a:xfrm>
            <a:off x="3849624" y="3886200"/>
            <a:ext cx="2103120" cy="1280160"/>
          </a:xfrm>
          <a:prstGeom prst="rect">
            <a:avLst/>
          </a:prstGeom>
          <a:noFill/>
          <a:ln/>
        </p:spPr>
        <p:txBody>
          <a:bodyPr wrap="square" lIns="0" tIns="0" rIns="0" bIns="0" rtlCol="0" anchor="t"/>
          <a:lstStyle/>
          <a:p>
            <a:pPr marL="0" indent="0">
              <a:lnSpc>
                <a:spcPts val="1800"/>
              </a:lnSpc>
              <a:buNone/>
            </a:pPr>
            <a:r>
              <a:rPr lang="en-US" sz="1350" dirty="0">
                <a:solidFill>
                  <a:srgbClr val="1C2E22"/>
                </a:solidFill>
                <a:latin typeface="Calibri" pitchFamily="34" charset="0"/>
                <a:ea typeface="Calibri" pitchFamily="34" charset="-122"/>
                <a:cs typeface="Calibri" pitchFamily="34" charset="-120"/>
              </a:rPr>
              <a:t>Group and cross-sell what sells together.</a:t>
            </a:r>
            <a:endParaRPr lang="en-US" sz="1350" dirty="0"/>
          </a:p>
        </p:txBody>
      </p:sp>
      <p:sp>
        <p:nvSpPr>
          <p:cNvPr id="15" name="Text 13"/>
          <p:cNvSpPr/>
          <p:nvPr/>
        </p:nvSpPr>
        <p:spPr>
          <a:xfrm>
            <a:off x="3849624" y="5440680"/>
            <a:ext cx="2103120" cy="292608"/>
          </a:xfrm>
          <a:prstGeom prst="rect">
            <a:avLst/>
          </a:prstGeom>
          <a:noFill/>
          <a:ln/>
        </p:spPr>
        <p:txBody>
          <a:bodyPr wrap="square" lIns="0" tIns="0" rIns="0" bIns="0" rtlCol="0" anchor="ctr"/>
          <a:lstStyle/>
          <a:p>
            <a:pPr marL="0" indent="0">
              <a:buNone/>
            </a:pPr>
            <a:r>
              <a:rPr lang="en-US" sz="1000" b="1" kern="0" spc="150" dirty="0">
                <a:solidFill>
                  <a:srgbClr val="E07A3F"/>
                </a:solidFill>
                <a:latin typeface="Calibri" pitchFamily="34" charset="0"/>
                <a:ea typeface="Calibri" pitchFamily="34" charset="-122"/>
                <a:cs typeface="Calibri" pitchFamily="34" charset="-120"/>
              </a:rPr>
              <a:t>FOR MARCO</a:t>
            </a:r>
            <a:endParaRPr lang="en-US" sz="1000" dirty="0"/>
          </a:p>
        </p:txBody>
      </p:sp>
      <p:sp>
        <p:nvSpPr>
          <p:cNvPr id="16" name="Shape 14"/>
          <p:cNvSpPr/>
          <p:nvPr/>
        </p:nvSpPr>
        <p:spPr>
          <a:xfrm>
            <a:off x="6336792" y="1920240"/>
            <a:ext cx="2615184" cy="3977640"/>
          </a:xfrm>
          <a:prstGeom prst="roundRect">
            <a:avLst>
              <a:gd name="adj" fmla="val 2448"/>
            </a:avLst>
          </a:prstGeom>
          <a:solidFill>
            <a:srgbClr val="FFFFFF"/>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17" name="Shape 15"/>
          <p:cNvSpPr/>
          <p:nvPr/>
        </p:nvSpPr>
        <p:spPr>
          <a:xfrm>
            <a:off x="6336792" y="1920240"/>
            <a:ext cx="2615184" cy="100584"/>
          </a:xfrm>
          <a:prstGeom prst="rect">
            <a:avLst/>
          </a:prstGeom>
          <a:solidFill>
            <a:srgbClr val="5B8DB8"/>
          </a:solidFill>
          <a:ln/>
        </p:spPr>
        <p:txBody>
          <a:bodyPr/>
          <a:lstStyle/>
          <a:p>
            <a:endParaRPr lang="de-DE"/>
          </a:p>
        </p:txBody>
      </p:sp>
      <p:sp>
        <p:nvSpPr>
          <p:cNvPr id="18" name="Text 16"/>
          <p:cNvSpPr/>
          <p:nvPr/>
        </p:nvSpPr>
        <p:spPr>
          <a:xfrm>
            <a:off x="6629400" y="2240280"/>
            <a:ext cx="2011680" cy="640080"/>
          </a:xfrm>
          <a:prstGeom prst="rect">
            <a:avLst/>
          </a:prstGeom>
          <a:noFill/>
          <a:ln/>
        </p:spPr>
        <p:txBody>
          <a:bodyPr wrap="square" lIns="0" tIns="0" rIns="0" bIns="0" rtlCol="0" anchor="ctr"/>
          <a:lstStyle/>
          <a:p>
            <a:pPr marL="0" indent="0">
              <a:buNone/>
            </a:pPr>
            <a:r>
              <a:rPr lang="en-US" sz="3400" b="1" dirty="0">
                <a:solidFill>
                  <a:srgbClr val="5B8DB8"/>
                </a:solidFill>
                <a:latin typeface="Georgia" pitchFamily="34" charset="0"/>
                <a:ea typeface="Georgia" pitchFamily="34" charset="-122"/>
                <a:cs typeface="Georgia" pitchFamily="34" charset="-120"/>
              </a:rPr>
              <a:t>03</a:t>
            </a:r>
            <a:endParaRPr lang="en-US" sz="3400" dirty="0"/>
          </a:p>
        </p:txBody>
      </p:sp>
      <p:sp>
        <p:nvSpPr>
          <p:cNvPr id="19" name="Text 17"/>
          <p:cNvSpPr/>
          <p:nvPr/>
        </p:nvSpPr>
        <p:spPr>
          <a:xfrm>
            <a:off x="6629400" y="2971800"/>
            <a:ext cx="2103120" cy="822960"/>
          </a:xfrm>
          <a:prstGeom prst="rect">
            <a:avLst/>
          </a:prstGeom>
          <a:noFill/>
          <a:ln/>
        </p:spPr>
        <p:txBody>
          <a:bodyPr wrap="square" lIns="0" tIns="0" rIns="0" bIns="0" rtlCol="0" anchor="t"/>
          <a:lstStyle/>
          <a:p>
            <a:pPr marL="0" indent="0">
              <a:lnSpc>
                <a:spcPts val="2200"/>
              </a:lnSpc>
              <a:buNone/>
            </a:pPr>
            <a:r>
              <a:rPr lang="en-US" sz="1900" b="1" dirty="0">
                <a:solidFill>
                  <a:srgbClr val="1C2E22"/>
                </a:solidFill>
                <a:latin typeface="Georgia" pitchFamily="34" charset="0"/>
                <a:ea typeface="Georgia" pitchFamily="34" charset="-122"/>
                <a:cs typeface="Georgia" pitchFamily="34" charset="-120"/>
              </a:rPr>
              <a:t>Subscribe the staples</a:t>
            </a:r>
            <a:endParaRPr lang="en-US" sz="1900" dirty="0"/>
          </a:p>
        </p:txBody>
      </p:sp>
      <p:sp>
        <p:nvSpPr>
          <p:cNvPr id="20" name="Text 18"/>
          <p:cNvSpPr/>
          <p:nvPr/>
        </p:nvSpPr>
        <p:spPr>
          <a:xfrm>
            <a:off x="6629400" y="3886200"/>
            <a:ext cx="2103120" cy="1280160"/>
          </a:xfrm>
          <a:prstGeom prst="rect">
            <a:avLst/>
          </a:prstGeom>
          <a:noFill/>
          <a:ln/>
        </p:spPr>
        <p:txBody>
          <a:bodyPr wrap="square" lIns="0" tIns="0" rIns="0" bIns="0" rtlCol="0" anchor="t"/>
          <a:lstStyle/>
          <a:p>
            <a:pPr marL="0" indent="0">
              <a:lnSpc>
                <a:spcPts val="1800"/>
              </a:lnSpc>
              <a:buNone/>
            </a:pPr>
            <a:r>
              <a:rPr lang="en-US" sz="1350" dirty="0">
                <a:solidFill>
                  <a:srgbClr val="1C2E22"/>
                </a:solidFill>
                <a:latin typeface="Calibri" pitchFamily="34" charset="0"/>
                <a:ea typeface="Calibri" pitchFamily="34" charset="-122"/>
                <a:cs typeface="Calibri" pitchFamily="34" charset="-120"/>
              </a:rPr>
              <a:t>Milk and water — auto-reorder offers.</a:t>
            </a:r>
            <a:endParaRPr lang="en-US" sz="1350" dirty="0"/>
          </a:p>
        </p:txBody>
      </p:sp>
      <p:sp>
        <p:nvSpPr>
          <p:cNvPr id="21" name="Text 19"/>
          <p:cNvSpPr/>
          <p:nvPr/>
        </p:nvSpPr>
        <p:spPr>
          <a:xfrm>
            <a:off x="6629400" y="5440680"/>
            <a:ext cx="2103120" cy="292608"/>
          </a:xfrm>
          <a:prstGeom prst="rect">
            <a:avLst/>
          </a:prstGeom>
          <a:noFill/>
          <a:ln/>
        </p:spPr>
        <p:txBody>
          <a:bodyPr wrap="square" lIns="0" tIns="0" rIns="0" bIns="0" rtlCol="0" anchor="ctr"/>
          <a:lstStyle/>
          <a:p>
            <a:pPr marL="0" indent="0">
              <a:buNone/>
            </a:pPr>
            <a:r>
              <a:rPr lang="en-US" sz="1000" b="1" kern="0" spc="150" dirty="0">
                <a:solidFill>
                  <a:srgbClr val="5B8DB8"/>
                </a:solidFill>
                <a:latin typeface="Calibri" pitchFamily="34" charset="0"/>
                <a:ea typeface="Calibri" pitchFamily="34" charset="-122"/>
                <a:cs typeface="Calibri" pitchFamily="34" charset="-120"/>
              </a:rPr>
              <a:t>FOR SANDRA</a:t>
            </a:r>
            <a:endParaRPr lang="en-US" sz="1000" dirty="0"/>
          </a:p>
        </p:txBody>
      </p:sp>
      <p:sp>
        <p:nvSpPr>
          <p:cNvPr id="22" name="Shape 20"/>
          <p:cNvSpPr/>
          <p:nvPr/>
        </p:nvSpPr>
        <p:spPr>
          <a:xfrm>
            <a:off x="9116568" y="1920240"/>
            <a:ext cx="2615184" cy="3977640"/>
          </a:xfrm>
          <a:prstGeom prst="roundRect">
            <a:avLst>
              <a:gd name="adj" fmla="val 2448"/>
            </a:avLst>
          </a:prstGeom>
          <a:solidFill>
            <a:srgbClr val="FFFFFF"/>
          </a:solidFill>
          <a:ln w="12700">
            <a:solidFill>
              <a:srgbClr val="D8E0D4"/>
            </a:solidFill>
            <a:prstDash val="solid"/>
          </a:ln>
          <a:effectLst>
            <a:outerShdw blurRad="114300" dist="38100" dir="8100000" algn="bl" rotWithShape="0">
              <a:srgbClr val="1C2E22">
                <a:alpha val="16000"/>
              </a:srgbClr>
            </a:outerShdw>
          </a:effectLst>
        </p:spPr>
        <p:txBody>
          <a:bodyPr/>
          <a:lstStyle/>
          <a:p>
            <a:endParaRPr lang="de-DE"/>
          </a:p>
        </p:txBody>
      </p:sp>
      <p:sp>
        <p:nvSpPr>
          <p:cNvPr id="23" name="Shape 21"/>
          <p:cNvSpPr/>
          <p:nvPr/>
        </p:nvSpPr>
        <p:spPr>
          <a:xfrm>
            <a:off x="9116568" y="1920240"/>
            <a:ext cx="2615184" cy="100584"/>
          </a:xfrm>
          <a:prstGeom prst="rect">
            <a:avLst/>
          </a:prstGeom>
          <a:solidFill>
            <a:srgbClr val="2F6E4F"/>
          </a:solidFill>
          <a:ln/>
        </p:spPr>
        <p:txBody>
          <a:bodyPr/>
          <a:lstStyle/>
          <a:p>
            <a:endParaRPr lang="de-DE"/>
          </a:p>
        </p:txBody>
      </p:sp>
      <p:sp>
        <p:nvSpPr>
          <p:cNvPr id="24" name="Text 22"/>
          <p:cNvSpPr/>
          <p:nvPr/>
        </p:nvSpPr>
        <p:spPr>
          <a:xfrm>
            <a:off x="9409176" y="2240280"/>
            <a:ext cx="2011680" cy="640080"/>
          </a:xfrm>
          <a:prstGeom prst="rect">
            <a:avLst/>
          </a:prstGeom>
          <a:noFill/>
          <a:ln/>
        </p:spPr>
        <p:txBody>
          <a:bodyPr wrap="square" lIns="0" tIns="0" rIns="0" bIns="0" rtlCol="0" anchor="ctr"/>
          <a:lstStyle/>
          <a:p>
            <a:pPr marL="0" indent="0">
              <a:buNone/>
            </a:pPr>
            <a:r>
              <a:rPr lang="en-US" sz="3400" b="1" dirty="0">
                <a:solidFill>
                  <a:srgbClr val="2F6E4F"/>
                </a:solidFill>
                <a:latin typeface="Georgia" pitchFamily="34" charset="0"/>
                <a:ea typeface="Georgia" pitchFamily="34" charset="-122"/>
                <a:cs typeface="Georgia" pitchFamily="34" charset="-120"/>
              </a:rPr>
              <a:t>04</a:t>
            </a:r>
            <a:endParaRPr lang="en-US" sz="3400" dirty="0"/>
          </a:p>
        </p:txBody>
      </p:sp>
      <p:sp>
        <p:nvSpPr>
          <p:cNvPr id="25" name="Text 23"/>
          <p:cNvSpPr/>
          <p:nvPr/>
        </p:nvSpPr>
        <p:spPr>
          <a:xfrm>
            <a:off x="9409176" y="2971800"/>
            <a:ext cx="2103120" cy="822960"/>
          </a:xfrm>
          <a:prstGeom prst="rect">
            <a:avLst/>
          </a:prstGeom>
          <a:noFill/>
          <a:ln/>
        </p:spPr>
        <p:txBody>
          <a:bodyPr wrap="square" lIns="0" tIns="0" rIns="0" bIns="0" rtlCol="0" anchor="t"/>
          <a:lstStyle/>
          <a:p>
            <a:pPr marL="0" indent="0">
              <a:lnSpc>
                <a:spcPts val="2200"/>
              </a:lnSpc>
              <a:buNone/>
            </a:pPr>
            <a:r>
              <a:rPr lang="en-US" sz="1900" b="1" dirty="0">
                <a:solidFill>
                  <a:srgbClr val="1C2E22"/>
                </a:solidFill>
                <a:latin typeface="Georgia" pitchFamily="34" charset="0"/>
                <a:ea typeface="Georgia" pitchFamily="34" charset="-122"/>
                <a:cs typeface="Georgia" pitchFamily="34" charset="-120"/>
              </a:rPr>
              <a:t>Protect the gems</a:t>
            </a:r>
            <a:endParaRPr lang="en-US" sz="1900" dirty="0"/>
          </a:p>
        </p:txBody>
      </p:sp>
      <p:sp>
        <p:nvSpPr>
          <p:cNvPr id="26" name="Text 24"/>
          <p:cNvSpPr/>
          <p:nvPr/>
        </p:nvSpPr>
        <p:spPr>
          <a:xfrm>
            <a:off x="9409176" y="3886200"/>
            <a:ext cx="2103120" cy="1280160"/>
          </a:xfrm>
          <a:prstGeom prst="rect">
            <a:avLst/>
          </a:prstGeom>
          <a:noFill/>
          <a:ln/>
        </p:spPr>
        <p:txBody>
          <a:bodyPr wrap="square" lIns="0" tIns="0" rIns="0" bIns="0" rtlCol="0" anchor="t"/>
          <a:lstStyle/>
          <a:p>
            <a:pPr marL="0" indent="0">
              <a:lnSpc>
                <a:spcPts val="1800"/>
              </a:lnSpc>
              <a:buNone/>
            </a:pPr>
            <a:r>
              <a:rPr lang="en-US" sz="1350" dirty="0">
                <a:solidFill>
                  <a:srgbClr val="1C2E22"/>
                </a:solidFill>
                <a:latin typeface="Calibri" pitchFamily="34" charset="0"/>
                <a:ea typeface="Calibri" pitchFamily="34" charset="-122"/>
                <a:cs typeface="Calibri" pitchFamily="34" charset="-120"/>
              </a:rPr>
              <a:t>Keep loyal niche products on the shelf.</a:t>
            </a:r>
            <a:endParaRPr lang="en-US" sz="1350" dirty="0"/>
          </a:p>
        </p:txBody>
      </p:sp>
      <p:sp>
        <p:nvSpPr>
          <p:cNvPr id="27" name="Text 25"/>
          <p:cNvSpPr/>
          <p:nvPr/>
        </p:nvSpPr>
        <p:spPr>
          <a:xfrm>
            <a:off x="9409176" y="5440680"/>
            <a:ext cx="2103120" cy="292608"/>
          </a:xfrm>
          <a:prstGeom prst="rect">
            <a:avLst/>
          </a:prstGeom>
          <a:noFill/>
          <a:ln/>
        </p:spPr>
        <p:txBody>
          <a:bodyPr wrap="square" lIns="0" tIns="0" rIns="0" bIns="0" rtlCol="0" anchor="ctr"/>
          <a:lstStyle/>
          <a:p>
            <a:pPr marL="0" indent="0">
              <a:buNone/>
            </a:pPr>
            <a:r>
              <a:rPr lang="en-US" sz="1000" b="1" kern="0" spc="150" dirty="0">
                <a:solidFill>
                  <a:srgbClr val="2F6E4F"/>
                </a:solidFill>
                <a:latin typeface="Calibri" pitchFamily="34" charset="0"/>
                <a:ea typeface="Calibri" pitchFamily="34" charset="-122"/>
                <a:cs typeface="Calibri" pitchFamily="34" charset="-120"/>
              </a:rPr>
              <a:t>FOR MARCO</a:t>
            </a:r>
            <a:endParaRPr lang="en-US" sz="1000" dirty="0"/>
          </a:p>
        </p:txBody>
      </p:sp>
      <p:sp>
        <p:nvSpPr>
          <p:cNvPr id="28" name="Text 26"/>
          <p:cNvSpPr/>
          <p:nvPr/>
        </p:nvSpPr>
        <p:spPr>
          <a:xfrm>
            <a:off x="777240" y="6455664"/>
            <a:ext cx="7315200" cy="274320"/>
          </a:xfrm>
          <a:prstGeom prst="rect">
            <a:avLst/>
          </a:prstGeom>
          <a:noFill/>
          <a:ln/>
        </p:spPr>
        <p:txBody>
          <a:bodyPr wrap="square" lIns="0" tIns="0" rIns="0" bIns="0" rtlCol="0" anchor="ctr"/>
          <a:lstStyle/>
          <a:p>
            <a:pPr marL="0" indent="0" algn="l">
              <a:buNone/>
            </a:pPr>
            <a:r>
              <a:rPr lang="en-US" sz="900" dirty="0">
                <a:solidFill>
                  <a:srgbClr val="6B7A6E"/>
                </a:solidFill>
                <a:latin typeface="Calibri" pitchFamily="34" charset="0"/>
                <a:ea typeface="Calibri" pitchFamily="34" charset="-122"/>
                <a:cs typeface="Calibri" pitchFamily="34" charset="-120"/>
              </a:rPr>
              <a:t>Grocery Product Placement Analysis  ·  Group 11</a:t>
            </a:r>
            <a:endParaRPr lang="en-US" sz="900" dirty="0"/>
          </a:p>
        </p:txBody>
      </p:sp>
      <p:sp>
        <p:nvSpPr>
          <p:cNvPr id="29" name="Text 27"/>
          <p:cNvSpPr/>
          <p:nvPr/>
        </p:nvSpPr>
        <p:spPr>
          <a:xfrm>
            <a:off x="10362895" y="6455664"/>
            <a:ext cx="1234440" cy="274320"/>
          </a:xfrm>
          <a:prstGeom prst="rect">
            <a:avLst/>
          </a:prstGeom>
          <a:noFill/>
          <a:ln/>
        </p:spPr>
        <p:txBody>
          <a:bodyPr wrap="square" lIns="0" tIns="0" rIns="0" bIns="0" rtlCol="0" anchor="ctr"/>
          <a:lstStyle/>
          <a:p>
            <a:pPr marL="0" indent="0" algn="r">
              <a:buNone/>
            </a:pPr>
            <a:r>
              <a:rPr lang="en-US" sz="900" dirty="0">
                <a:solidFill>
                  <a:srgbClr val="6B7A6E"/>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331F"/>
        </a:solidFill>
        <a:effectLst/>
      </p:bgPr>
    </p:bg>
    <p:spTree>
      <p:nvGrpSpPr>
        <p:cNvPr id="1" name=""/>
        <p:cNvGrpSpPr/>
        <p:nvPr/>
      </p:nvGrpSpPr>
      <p:grpSpPr>
        <a:xfrm>
          <a:off x="0" y="0"/>
          <a:ext cx="0" cy="0"/>
          <a:chOff x="0" y="0"/>
          <a:chExt cx="0" cy="0"/>
        </a:xfrm>
      </p:grpSpPr>
      <p:sp>
        <p:nvSpPr>
          <p:cNvPr id="2" name="Text 0"/>
          <p:cNvSpPr/>
          <p:nvPr/>
        </p:nvSpPr>
        <p:spPr>
          <a:xfrm>
            <a:off x="777240" y="548640"/>
            <a:ext cx="8686800" cy="292608"/>
          </a:xfrm>
          <a:prstGeom prst="rect">
            <a:avLst/>
          </a:prstGeom>
          <a:noFill/>
          <a:ln/>
        </p:spPr>
        <p:txBody>
          <a:bodyPr wrap="square" lIns="0" tIns="0" rIns="0" bIns="0" rtlCol="0" anchor="ctr"/>
          <a:lstStyle/>
          <a:p>
            <a:pPr marL="0" indent="0" algn="l">
              <a:buNone/>
            </a:pPr>
            <a:r>
              <a:rPr lang="en-US" sz="1250" b="1" kern="0" spc="300" dirty="0">
                <a:solidFill>
                  <a:srgbClr val="7BB274"/>
                </a:solidFill>
                <a:latin typeface="Calibri" pitchFamily="34" charset="0"/>
                <a:ea typeface="Calibri" pitchFamily="34" charset="-122"/>
                <a:cs typeface="Calibri" pitchFamily="34" charset="-120"/>
              </a:rPr>
              <a:t>THANK YOU</a:t>
            </a:r>
            <a:endParaRPr lang="en-US" sz="1250" dirty="0"/>
          </a:p>
        </p:txBody>
      </p:sp>
      <p:sp>
        <p:nvSpPr>
          <p:cNvPr id="3" name="Text 1"/>
          <p:cNvSpPr/>
          <p:nvPr/>
        </p:nvSpPr>
        <p:spPr>
          <a:xfrm>
            <a:off x="777240" y="1554480"/>
            <a:ext cx="7863840" cy="1737360"/>
          </a:xfrm>
          <a:prstGeom prst="rect">
            <a:avLst/>
          </a:prstGeom>
          <a:noFill/>
          <a:ln/>
        </p:spPr>
        <p:txBody>
          <a:bodyPr wrap="square" lIns="0" tIns="0" rIns="0" bIns="0" rtlCol="0" anchor="ctr"/>
          <a:lstStyle/>
          <a:p>
            <a:pPr marL="0" indent="0">
              <a:lnSpc>
                <a:spcPts val="4200"/>
              </a:lnSpc>
              <a:buNone/>
            </a:pPr>
            <a:r>
              <a:rPr lang="en-US" sz="3600" b="1" dirty="0">
                <a:solidFill>
                  <a:srgbClr val="FFFFFF"/>
                </a:solidFill>
                <a:latin typeface="Georgia" pitchFamily="34" charset="0"/>
                <a:ea typeface="Georgia" pitchFamily="34" charset="-122"/>
                <a:cs typeface="Georgia" pitchFamily="34" charset="-120"/>
              </a:rPr>
              <a:t>Three million orders,</a:t>
            </a:r>
            <a:endParaRPr lang="en-US" sz="3600" dirty="0"/>
          </a:p>
          <a:p>
            <a:pPr marL="0" indent="0">
              <a:lnSpc>
                <a:spcPts val="4200"/>
              </a:lnSpc>
              <a:buNone/>
            </a:pPr>
            <a:r>
              <a:rPr lang="en-US" sz="3600" b="1" dirty="0">
                <a:solidFill>
                  <a:srgbClr val="FFFFFF"/>
                </a:solidFill>
                <a:latin typeface="Georgia" pitchFamily="34" charset="0"/>
                <a:ea typeface="Georgia" pitchFamily="34" charset="-122"/>
                <a:cs typeface="Georgia" pitchFamily="34" charset="-120"/>
              </a:rPr>
              <a:t>one clear shelf strategy.</a:t>
            </a:r>
            <a:endParaRPr lang="en-US" sz="3600" dirty="0"/>
          </a:p>
        </p:txBody>
      </p:sp>
      <p:sp>
        <p:nvSpPr>
          <p:cNvPr id="4" name="Text 2"/>
          <p:cNvSpPr/>
          <p:nvPr/>
        </p:nvSpPr>
        <p:spPr>
          <a:xfrm>
            <a:off x="777240" y="3429000"/>
            <a:ext cx="6949440" cy="914400"/>
          </a:xfrm>
          <a:prstGeom prst="rect">
            <a:avLst/>
          </a:prstGeom>
          <a:noFill/>
          <a:ln/>
        </p:spPr>
        <p:txBody>
          <a:bodyPr wrap="square" lIns="0" tIns="0" rIns="0" bIns="0" rtlCol="0" anchor="ctr"/>
          <a:lstStyle/>
          <a:p>
            <a:pPr marL="0" indent="0">
              <a:lnSpc>
                <a:spcPts val="2200"/>
              </a:lnSpc>
              <a:buNone/>
            </a:pPr>
            <a:r>
              <a:rPr lang="en-US" sz="1500" dirty="0">
                <a:solidFill>
                  <a:srgbClr val="A9C9A0"/>
                </a:solidFill>
                <a:latin typeface="Calibri" pitchFamily="34" charset="0"/>
                <a:ea typeface="Calibri" pitchFamily="34" charset="-122"/>
                <a:cs typeface="Calibri" pitchFamily="34" charset="-120"/>
              </a:rPr>
              <a:t>Anonymised purchase data, turned into decisions Sandra and Marco can act on — without writing a line of code.</a:t>
            </a:r>
            <a:endParaRPr lang="en-US" sz="1500" dirty="0"/>
          </a:p>
        </p:txBody>
      </p:sp>
      <p:sp>
        <p:nvSpPr>
          <p:cNvPr id="5" name="Shape 3"/>
          <p:cNvSpPr/>
          <p:nvPr/>
        </p:nvSpPr>
        <p:spPr>
          <a:xfrm>
            <a:off x="777240" y="4617720"/>
            <a:ext cx="1005840" cy="0"/>
          </a:xfrm>
          <a:prstGeom prst="line">
            <a:avLst/>
          </a:prstGeom>
          <a:noFill/>
          <a:ln w="31750">
            <a:solidFill>
              <a:srgbClr val="E07A3F"/>
            </a:solidFill>
            <a:prstDash val="solid"/>
          </a:ln>
        </p:spPr>
        <p:txBody>
          <a:bodyPr/>
          <a:lstStyle/>
          <a:p>
            <a:endParaRPr lang="de-DE"/>
          </a:p>
        </p:txBody>
      </p:sp>
      <p:sp>
        <p:nvSpPr>
          <p:cNvPr id="6" name="Text 4"/>
          <p:cNvSpPr/>
          <p:nvPr/>
        </p:nvSpPr>
        <p:spPr>
          <a:xfrm>
            <a:off x="777240" y="4846320"/>
            <a:ext cx="8229600" cy="868680"/>
          </a:xfrm>
          <a:prstGeom prst="rect">
            <a:avLst/>
          </a:prstGeom>
          <a:noFill/>
          <a:ln/>
        </p:spPr>
        <p:txBody>
          <a:bodyPr wrap="square" lIns="0" tIns="0" rIns="0" bIns="0" rtlCol="0" anchor="ctr"/>
          <a:lstStyle/>
          <a:p>
            <a:pPr marL="0" indent="0">
              <a:lnSpc>
                <a:spcPts val="2100"/>
              </a:lnSpc>
              <a:buNone/>
            </a:pPr>
            <a:r>
              <a:rPr lang="en-US" sz="1350" b="1" dirty="0">
                <a:solidFill>
                  <a:srgbClr val="7BB274"/>
                </a:solidFill>
                <a:latin typeface="Calibri" pitchFamily="34" charset="0"/>
                <a:ea typeface="Calibri" pitchFamily="34" charset="-122"/>
                <a:cs typeface="Calibri" pitchFamily="34" charset="-120"/>
              </a:rPr>
              <a:t>Repository   </a:t>
            </a:r>
            <a:r>
              <a:rPr lang="en-US" sz="1350" dirty="0">
                <a:solidFill>
                  <a:srgbClr val="FFFFFF"/>
                </a:solidFill>
                <a:latin typeface="Calibri" pitchFamily="34" charset="0"/>
                <a:ea typeface="Calibri" pitchFamily="34" charset="-122"/>
                <a:cs typeface="Calibri" pitchFamily="34" charset="-120"/>
              </a:rPr>
              <a:t>github.com/peslar01/ad24-11-grocery-product-placement-analysis
</a:t>
            </a:r>
            <a:r>
              <a:rPr lang="en-US" sz="1350" b="1" dirty="0">
                <a:solidFill>
                  <a:srgbClr val="7BB274"/>
                </a:solidFill>
                <a:latin typeface="Calibri" pitchFamily="34" charset="0"/>
                <a:ea typeface="Calibri" pitchFamily="34" charset="-122"/>
                <a:cs typeface="Calibri" pitchFamily="34" charset="-120"/>
              </a:rPr>
              <a:t>Run it   </a:t>
            </a:r>
            <a:r>
              <a:rPr lang="en-US" sz="1350" dirty="0">
                <a:solidFill>
                  <a:srgbClr val="FFFFFF"/>
                </a:solidFill>
                <a:latin typeface="Calibri" pitchFamily="34" charset="0"/>
                <a:ea typeface="Calibri" pitchFamily="34" charset="-122"/>
                <a:cs typeface="Calibri" pitchFamily="34" charset="-120"/>
              </a:rPr>
              <a:t>streamlit run deployment/app.py</a:t>
            </a:r>
            <a:endParaRPr lang="en-US" sz="1350" dirty="0"/>
          </a:p>
        </p:txBody>
      </p:sp>
      <p:sp>
        <p:nvSpPr>
          <p:cNvPr id="7" name="Text 5"/>
          <p:cNvSpPr/>
          <p:nvPr/>
        </p:nvSpPr>
        <p:spPr>
          <a:xfrm>
            <a:off x="777240" y="5943600"/>
            <a:ext cx="7315200" cy="365760"/>
          </a:xfrm>
          <a:prstGeom prst="rect">
            <a:avLst/>
          </a:prstGeom>
          <a:noFill/>
          <a:ln/>
        </p:spPr>
        <p:txBody>
          <a:bodyPr wrap="square" lIns="0" tIns="0" rIns="0" bIns="0" rtlCol="0" anchor="ctr"/>
          <a:lstStyle/>
          <a:p>
            <a:pPr marL="0" indent="0">
              <a:buNone/>
            </a:pPr>
            <a:r>
              <a:rPr lang="en-US" sz="1300" dirty="0">
                <a:solidFill>
                  <a:srgbClr val="9DB5A4"/>
                </a:solidFill>
                <a:latin typeface="Calibri" pitchFamily="34" charset="0"/>
                <a:ea typeface="Calibri" pitchFamily="34" charset="-122"/>
                <a:cs typeface="Calibri" pitchFamily="34" charset="-120"/>
              </a:rPr>
              <a:t>Lara Pestrin   ·   Jonathan Kull   ·   Veprim Mehmeti</a:t>
            </a:r>
            <a:endParaRPr lang="en-US" sz="1300" dirty="0"/>
          </a:p>
        </p:txBody>
      </p:sp>
      <p:sp>
        <p:nvSpPr>
          <p:cNvPr id="8" name="Shape 6"/>
          <p:cNvSpPr/>
          <p:nvPr/>
        </p:nvSpPr>
        <p:spPr>
          <a:xfrm>
            <a:off x="9784080" y="3200400"/>
            <a:ext cx="757123" cy="0"/>
          </a:xfrm>
          <a:prstGeom prst="line">
            <a:avLst/>
          </a:prstGeom>
          <a:noFill/>
          <a:ln w="9525">
            <a:solidFill>
              <a:srgbClr val="7BB274">
                <a:alpha val="45000"/>
              </a:srgbClr>
            </a:solidFill>
            <a:prstDash val="solid"/>
          </a:ln>
        </p:spPr>
        <p:txBody>
          <a:bodyPr/>
          <a:lstStyle/>
          <a:p>
            <a:endParaRPr lang="de-DE"/>
          </a:p>
        </p:txBody>
      </p:sp>
      <p:sp>
        <p:nvSpPr>
          <p:cNvPr id="9" name="Shape 7"/>
          <p:cNvSpPr/>
          <p:nvPr/>
        </p:nvSpPr>
        <p:spPr>
          <a:xfrm>
            <a:off x="9784080" y="3200400"/>
            <a:ext cx="504749" cy="757123"/>
          </a:xfrm>
          <a:prstGeom prst="line">
            <a:avLst/>
          </a:prstGeom>
          <a:noFill/>
          <a:ln w="9525">
            <a:solidFill>
              <a:srgbClr val="7BB274">
                <a:alpha val="45000"/>
              </a:srgbClr>
            </a:solidFill>
            <a:prstDash val="solid"/>
          </a:ln>
        </p:spPr>
        <p:txBody>
          <a:bodyPr/>
          <a:lstStyle/>
          <a:p>
            <a:endParaRPr lang="de-DE"/>
          </a:p>
        </p:txBody>
      </p:sp>
      <p:sp>
        <p:nvSpPr>
          <p:cNvPr id="10" name="Shape 8"/>
          <p:cNvSpPr/>
          <p:nvPr/>
        </p:nvSpPr>
        <p:spPr>
          <a:xfrm>
            <a:off x="9784080" y="3200400"/>
            <a:ext cx="0" cy="504749"/>
          </a:xfrm>
          <a:prstGeom prst="line">
            <a:avLst/>
          </a:prstGeom>
          <a:noFill/>
          <a:ln w="9525">
            <a:solidFill>
              <a:srgbClr val="7BB274">
                <a:alpha val="45000"/>
              </a:srgbClr>
            </a:solidFill>
            <a:prstDash val="solid"/>
          </a:ln>
        </p:spPr>
        <p:txBody>
          <a:bodyPr/>
          <a:lstStyle/>
          <a:p>
            <a:endParaRPr lang="de-DE"/>
          </a:p>
        </p:txBody>
      </p:sp>
      <p:sp>
        <p:nvSpPr>
          <p:cNvPr id="11" name="Shape 9"/>
          <p:cNvSpPr/>
          <p:nvPr/>
        </p:nvSpPr>
        <p:spPr>
          <a:xfrm>
            <a:off x="10541203" y="2779776"/>
            <a:ext cx="504749" cy="672998"/>
          </a:xfrm>
          <a:prstGeom prst="line">
            <a:avLst/>
          </a:prstGeom>
          <a:noFill/>
          <a:ln w="9525">
            <a:solidFill>
              <a:srgbClr val="7BB274">
                <a:alpha val="45000"/>
              </a:srgbClr>
            </a:solidFill>
            <a:prstDash val="solid"/>
          </a:ln>
        </p:spPr>
        <p:txBody>
          <a:bodyPr/>
          <a:lstStyle/>
          <a:p>
            <a:endParaRPr lang="de-DE"/>
          </a:p>
        </p:txBody>
      </p:sp>
      <p:sp>
        <p:nvSpPr>
          <p:cNvPr id="12" name="Shape 10"/>
          <p:cNvSpPr/>
          <p:nvPr/>
        </p:nvSpPr>
        <p:spPr>
          <a:xfrm>
            <a:off x="11045952" y="3452774"/>
            <a:ext cx="672998" cy="168250"/>
          </a:xfrm>
          <a:prstGeom prst="line">
            <a:avLst/>
          </a:prstGeom>
          <a:noFill/>
          <a:ln w="9525">
            <a:solidFill>
              <a:srgbClr val="7BB274">
                <a:alpha val="45000"/>
              </a:srgbClr>
            </a:solidFill>
            <a:prstDash val="solid"/>
          </a:ln>
        </p:spPr>
        <p:txBody>
          <a:bodyPr/>
          <a:lstStyle/>
          <a:p>
            <a:endParaRPr lang="de-DE"/>
          </a:p>
        </p:txBody>
      </p:sp>
      <p:sp>
        <p:nvSpPr>
          <p:cNvPr id="13" name="Shape 11"/>
          <p:cNvSpPr/>
          <p:nvPr/>
        </p:nvSpPr>
        <p:spPr>
          <a:xfrm>
            <a:off x="11045952" y="3452774"/>
            <a:ext cx="336499" cy="0"/>
          </a:xfrm>
          <a:prstGeom prst="line">
            <a:avLst/>
          </a:prstGeom>
          <a:noFill/>
          <a:ln w="9525">
            <a:solidFill>
              <a:srgbClr val="7BB274">
                <a:alpha val="45000"/>
              </a:srgbClr>
            </a:solidFill>
            <a:prstDash val="solid"/>
          </a:ln>
        </p:spPr>
        <p:txBody>
          <a:bodyPr/>
          <a:lstStyle/>
          <a:p>
            <a:endParaRPr lang="de-DE"/>
          </a:p>
        </p:txBody>
      </p:sp>
      <p:sp>
        <p:nvSpPr>
          <p:cNvPr id="14" name="Shape 12"/>
          <p:cNvSpPr/>
          <p:nvPr/>
        </p:nvSpPr>
        <p:spPr>
          <a:xfrm>
            <a:off x="10541203" y="2779776"/>
            <a:ext cx="841248" cy="0"/>
          </a:xfrm>
          <a:prstGeom prst="line">
            <a:avLst/>
          </a:prstGeom>
          <a:noFill/>
          <a:ln w="9525">
            <a:solidFill>
              <a:srgbClr val="7BB274">
                <a:alpha val="45000"/>
              </a:srgbClr>
            </a:solidFill>
            <a:prstDash val="solid"/>
          </a:ln>
        </p:spPr>
        <p:txBody>
          <a:bodyPr/>
          <a:lstStyle/>
          <a:p>
            <a:endParaRPr lang="de-DE"/>
          </a:p>
        </p:txBody>
      </p:sp>
      <p:sp>
        <p:nvSpPr>
          <p:cNvPr id="15" name="Shape 13"/>
          <p:cNvSpPr/>
          <p:nvPr/>
        </p:nvSpPr>
        <p:spPr>
          <a:xfrm>
            <a:off x="10288829" y="3957523"/>
            <a:ext cx="504749" cy="420624"/>
          </a:xfrm>
          <a:prstGeom prst="line">
            <a:avLst/>
          </a:prstGeom>
          <a:noFill/>
          <a:ln w="9525">
            <a:solidFill>
              <a:srgbClr val="7BB274">
                <a:alpha val="45000"/>
              </a:srgbClr>
            </a:solidFill>
            <a:prstDash val="solid"/>
          </a:ln>
        </p:spPr>
        <p:txBody>
          <a:bodyPr/>
          <a:lstStyle/>
          <a:p>
            <a:endParaRPr lang="de-DE"/>
          </a:p>
        </p:txBody>
      </p:sp>
      <p:sp>
        <p:nvSpPr>
          <p:cNvPr id="16" name="Shape 14"/>
          <p:cNvSpPr/>
          <p:nvPr/>
        </p:nvSpPr>
        <p:spPr>
          <a:xfrm>
            <a:off x="9784080" y="3200400"/>
            <a:ext cx="0" cy="0"/>
          </a:xfrm>
          <a:prstGeom prst="line">
            <a:avLst/>
          </a:prstGeom>
          <a:noFill/>
          <a:ln w="9525">
            <a:solidFill>
              <a:srgbClr val="7BB274">
                <a:alpha val="45000"/>
              </a:srgbClr>
            </a:solidFill>
            <a:prstDash val="solid"/>
          </a:ln>
        </p:spPr>
        <p:txBody>
          <a:bodyPr/>
          <a:lstStyle/>
          <a:p>
            <a:endParaRPr lang="de-DE"/>
          </a:p>
        </p:txBody>
      </p:sp>
      <p:sp>
        <p:nvSpPr>
          <p:cNvPr id="17" name="Shape 15"/>
          <p:cNvSpPr/>
          <p:nvPr/>
        </p:nvSpPr>
        <p:spPr>
          <a:xfrm>
            <a:off x="9195206" y="3705149"/>
            <a:ext cx="0" cy="0"/>
          </a:xfrm>
          <a:prstGeom prst="line">
            <a:avLst/>
          </a:prstGeom>
          <a:noFill/>
          <a:ln w="9525">
            <a:solidFill>
              <a:srgbClr val="7BB274">
                <a:alpha val="45000"/>
              </a:srgbClr>
            </a:solidFill>
            <a:prstDash val="solid"/>
          </a:ln>
        </p:spPr>
        <p:txBody>
          <a:bodyPr/>
          <a:lstStyle/>
          <a:p>
            <a:endParaRPr lang="de-DE"/>
          </a:p>
        </p:txBody>
      </p:sp>
      <p:sp>
        <p:nvSpPr>
          <p:cNvPr id="18" name="Shape 16"/>
          <p:cNvSpPr/>
          <p:nvPr/>
        </p:nvSpPr>
        <p:spPr>
          <a:xfrm>
            <a:off x="9784080" y="3200400"/>
            <a:ext cx="252374" cy="0"/>
          </a:xfrm>
          <a:prstGeom prst="line">
            <a:avLst/>
          </a:prstGeom>
          <a:noFill/>
          <a:ln w="9525">
            <a:solidFill>
              <a:srgbClr val="7BB274">
                <a:alpha val="45000"/>
              </a:srgbClr>
            </a:solidFill>
            <a:prstDash val="solid"/>
          </a:ln>
        </p:spPr>
        <p:txBody>
          <a:bodyPr/>
          <a:lstStyle/>
          <a:p>
            <a:endParaRPr lang="de-DE"/>
          </a:p>
        </p:txBody>
      </p:sp>
      <p:sp>
        <p:nvSpPr>
          <p:cNvPr id="19" name="Shape 17"/>
          <p:cNvSpPr/>
          <p:nvPr/>
        </p:nvSpPr>
        <p:spPr>
          <a:xfrm>
            <a:off x="11718950" y="3621024"/>
            <a:ext cx="420624" cy="0"/>
          </a:xfrm>
          <a:prstGeom prst="line">
            <a:avLst/>
          </a:prstGeom>
          <a:noFill/>
          <a:ln w="9525">
            <a:solidFill>
              <a:srgbClr val="7BB274">
                <a:alpha val="45000"/>
              </a:srgbClr>
            </a:solidFill>
            <a:prstDash val="solid"/>
          </a:ln>
        </p:spPr>
        <p:txBody>
          <a:bodyPr/>
          <a:lstStyle/>
          <a:p>
            <a:endParaRPr lang="de-DE"/>
          </a:p>
        </p:txBody>
      </p:sp>
      <p:sp>
        <p:nvSpPr>
          <p:cNvPr id="20" name="Shape 18"/>
          <p:cNvSpPr/>
          <p:nvPr/>
        </p:nvSpPr>
        <p:spPr>
          <a:xfrm>
            <a:off x="10793578" y="4378147"/>
            <a:ext cx="672998" cy="0"/>
          </a:xfrm>
          <a:prstGeom prst="line">
            <a:avLst/>
          </a:prstGeom>
          <a:noFill/>
          <a:ln w="9525">
            <a:solidFill>
              <a:srgbClr val="7BB274">
                <a:alpha val="45000"/>
              </a:srgbClr>
            </a:solidFill>
            <a:prstDash val="solid"/>
          </a:ln>
        </p:spPr>
        <p:txBody>
          <a:bodyPr/>
          <a:lstStyle/>
          <a:p>
            <a:endParaRPr lang="de-DE"/>
          </a:p>
        </p:txBody>
      </p:sp>
      <p:sp>
        <p:nvSpPr>
          <p:cNvPr id="21" name="Shape 19"/>
          <p:cNvSpPr/>
          <p:nvPr/>
        </p:nvSpPr>
        <p:spPr>
          <a:xfrm>
            <a:off x="9195206" y="3705149"/>
            <a:ext cx="420624" cy="841248"/>
          </a:xfrm>
          <a:prstGeom prst="line">
            <a:avLst/>
          </a:prstGeom>
          <a:noFill/>
          <a:ln w="9525">
            <a:solidFill>
              <a:srgbClr val="7BB274">
                <a:alpha val="45000"/>
              </a:srgbClr>
            </a:solidFill>
            <a:prstDash val="solid"/>
          </a:ln>
        </p:spPr>
        <p:txBody>
          <a:bodyPr/>
          <a:lstStyle/>
          <a:p>
            <a:endParaRPr lang="de-DE"/>
          </a:p>
        </p:txBody>
      </p:sp>
      <p:sp>
        <p:nvSpPr>
          <p:cNvPr id="22" name="Shape 20"/>
          <p:cNvSpPr/>
          <p:nvPr/>
        </p:nvSpPr>
        <p:spPr>
          <a:xfrm>
            <a:off x="9500616" y="2916936"/>
            <a:ext cx="566928" cy="566928"/>
          </a:xfrm>
          <a:prstGeom prst="ellipse">
            <a:avLst/>
          </a:prstGeom>
          <a:solidFill>
            <a:srgbClr val="2F6E4F"/>
          </a:solidFill>
          <a:ln w="6350">
            <a:solidFill>
              <a:srgbClr val="14331F"/>
            </a:solidFill>
            <a:prstDash val="solid"/>
          </a:ln>
        </p:spPr>
        <p:txBody>
          <a:bodyPr/>
          <a:lstStyle/>
          <a:p>
            <a:endParaRPr lang="de-DE"/>
          </a:p>
        </p:txBody>
      </p:sp>
      <p:sp>
        <p:nvSpPr>
          <p:cNvPr id="23" name="Shape 21"/>
          <p:cNvSpPr/>
          <p:nvPr/>
        </p:nvSpPr>
        <p:spPr>
          <a:xfrm>
            <a:off x="10404043" y="2642616"/>
            <a:ext cx="274320" cy="274320"/>
          </a:xfrm>
          <a:prstGeom prst="ellipse">
            <a:avLst/>
          </a:prstGeom>
          <a:solidFill>
            <a:srgbClr val="7BB274"/>
          </a:solidFill>
          <a:ln w="6350">
            <a:solidFill>
              <a:srgbClr val="14331F"/>
            </a:solidFill>
            <a:prstDash val="solid"/>
          </a:ln>
        </p:spPr>
        <p:txBody>
          <a:bodyPr/>
          <a:lstStyle/>
          <a:p>
            <a:endParaRPr lang="de-DE"/>
          </a:p>
        </p:txBody>
      </p:sp>
      <p:sp>
        <p:nvSpPr>
          <p:cNvPr id="24" name="Shape 22"/>
          <p:cNvSpPr/>
          <p:nvPr/>
        </p:nvSpPr>
        <p:spPr>
          <a:xfrm>
            <a:off x="10853928" y="3260750"/>
            <a:ext cx="384048" cy="384048"/>
          </a:xfrm>
          <a:prstGeom prst="ellipse">
            <a:avLst/>
          </a:prstGeom>
          <a:solidFill>
            <a:srgbClr val="E07A3F"/>
          </a:solidFill>
          <a:ln w="6350">
            <a:solidFill>
              <a:srgbClr val="14331F"/>
            </a:solidFill>
            <a:prstDash val="solid"/>
          </a:ln>
        </p:spPr>
        <p:txBody>
          <a:bodyPr/>
          <a:lstStyle/>
          <a:p>
            <a:endParaRPr lang="de-DE"/>
          </a:p>
        </p:txBody>
      </p:sp>
      <p:sp>
        <p:nvSpPr>
          <p:cNvPr id="25" name="Shape 23"/>
          <p:cNvSpPr/>
          <p:nvPr/>
        </p:nvSpPr>
        <p:spPr>
          <a:xfrm>
            <a:off x="10179101" y="3847795"/>
            <a:ext cx="219456" cy="219456"/>
          </a:xfrm>
          <a:prstGeom prst="ellipse">
            <a:avLst/>
          </a:prstGeom>
          <a:solidFill>
            <a:srgbClr val="A9C9A0"/>
          </a:solidFill>
          <a:ln w="6350">
            <a:solidFill>
              <a:srgbClr val="14331F"/>
            </a:solidFill>
            <a:prstDash val="solid"/>
          </a:ln>
        </p:spPr>
        <p:txBody>
          <a:bodyPr/>
          <a:lstStyle/>
          <a:p>
            <a:endParaRPr lang="de-DE"/>
          </a:p>
        </p:txBody>
      </p:sp>
      <p:sp>
        <p:nvSpPr>
          <p:cNvPr id="26" name="Shape 24"/>
          <p:cNvSpPr/>
          <p:nvPr/>
        </p:nvSpPr>
        <p:spPr>
          <a:xfrm>
            <a:off x="9039758" y="3549701"/>
            <a:ext cx="310896" cy="310896"/>
          </a:xfrm>
          <a:prstGeom prst="ellipse">
            <a:avLst/>
          </a:prstGeom>
          <a:solidFill>
            <a:srgbClr val="2F6E4F"/>
          </a:solidFill>
          <a:ln w="6350">
            <a:solidFill>
              <a:srgbClr val="14331F"/>
            </a:solidFill>
            <a:prstDash val="solid"/>
          </a:ln>
        </p:spPr>
        <p:txBody>
          <a:bodyPr/>
          <a:lstStyle/>
          <a:p>
            <a:endParaRPr lang="de-DE"/>
          </a:p>
        </p:txBody>
      </p:sp>
      <p:sp>
        <p:nvSpPr>
          <p:cNvPr id="27" name="Shape 25"/>
          <p:cNvSpPr/>
          <p:nvPr/>
        </p:nvSpPr>
        <p:spPr>
          <a:xfrm>
            <a:off x="9262872" y="2426818"/>
            <a:ext cx="201168" cy="201168"/>
          </a:xfrm>
          <a:prstGeom prst="ellipse">
            <a:avLst/>
          </a:prstGeom>
          <a:solidFill>
            <a:srgbClr val="5B8DB8"/>
          </a:solidFill>
          <a:ln w="6350">
            <a:solidFill>
              <a:srgbClr val="14331F"/>
            </a:solidFill>
            <a:prstDash val="solid"/>
          </a:ln>
        </p:spPr>
        <p:txBody>
          <a:bodyPr/>
          <a:lstStyle/>
          <a:p>
            <a:endParaRPr lang="de-DE"/>
          </a:p>
        </p:txBody>
      </p:sp>
      <p:sp>
        <p:nvSpPr>
          <p:cNvPr id="28" name="Shape 26"/>
          <p:cNvSpPr/>
          <p:nvPr/>
        </p:nvSpPr>
        <p:spPr>
          <a:xfrm>
            <a:off x="11291011" y="2604211"/>
            <a:ext cx="182880" cy="182880"/>
          </a:xfrm>
          <a:prstGeom prst="ellipse">
            <a:avLst/>
          </a:prstGeom>
          <a:solidFill>
            <a:srgbClr val="7BB274"/>
          </a:solidFill>
          <a:ln w="6350">
            <a:solidFill>
              <a:srgbClr val="14331F"/>
            </a:solidFill>
            <a:prstDash val="solid"/>
          </a:ln>
        </p:spPr>
        <p:txBody>
          <a:bodyPr/>
          <a:lstStyle/>
          <a:p>
            <a:endParaRPr lang="de-DE"/>
          </a:p>
        </p:txBody>
      </p:sp>
      <p:sp>
        <p:nvSpPr>
          <p:cNvPr id="29" name="Shape 27"/>
          <p:cNvSpPr/>
          <p:nvPr/>
        </p:nvSpPr>
        <p:spPr>
          <a:xfrm>
            <a:off x="11554358" y="3456432"/>
            <a:ext cx="329184" cy="329184"/>
          </a:xfrm>
          <a:prstGeom prst="ellipse">
            <a:avLst/>
          </a:prstGeom>
          <a:solidFill>
            <a:srgbClr val="2F6E4F"/>
          </a:solidFill>
          <a:ln w="6350">
            <a:solidFill>
              <a:srgbClr val="14331F"/>
            </a:solidFill>
            <a:prstDash val="solid"/>
          </a:ln>
        </p:spPr>
        <p:txBody>
          <a:bodyPr/>
          <a:lstStyle/>
          <a:p>
            <a:endParaRPr lang="de-DE"/>
          </a:p>
        </p:txBody>
      </p:sp>
      <p:sp>
        <p:nvSpPr>
          <p:cNvPr id="30" name="Shape 28"/>
          <p:cNvSpPr/>
          <p:nvPr/>
        </p:nvSpPr>
        <p:spPr>
          <a:xfrm>
            <a:off x="10674706" y="4259275"/>
            <a:ext cx="237744" cy="237744"/>
          </a:xfrm>
          <a:prstGeom prst="ellipse">
            <a:avLst/>
          </a:prstGeom>
          <a:solidFill>
            <a:srgbClr val="5B8DB8"/>
          </a:solidFill>
          <a:ln w="6350">
            <a:solidFill>
              <a:srgbClr val="14331F"/>
            </a:solidFill>
            <a:prstDash val="solid"/>
          </a:ln>
        </p:spPr>
        <p:txBody>
          <a:bodyPr/>
          <a:lstStyle/>
          <a:p>
            <a:endParaRPr lang="de-DE"/>
          </a:p>
        </p:txBody>
      </p:sp>
      <p:sp>
        <p:nvSpPr>
          <p:cNvPr id="31" name="Shape 29"/>
          <p:cNvSpPr/>
          <p:nvPr/>
        </p:nvSpPr>
        <p:spPr>
          <a:xfrm>
            <a:off x="8776411" y="2949854"/>
            <a:ext cx="164592" cy="164592"/>
          </a:xfrm>
          <a:prstGeom prst="ellipse">
            <a:avLst/>
          </a:prstGeom>
          <a:solidFill>
            <a:srgbClr val="A9C9A0"/>
          </a:solidFill>
          <a:ln w="6350">
            <a:solidFill>
              <a:srgbClr val="14331F"/>
            </a:solidFill>
            <a:prstDash val="solid"/>
          </a:ln>
        </p:spPr>
        <p:txBody>
          <a:bodyPr/>
          <a:lstStyle/>
          <a:p>
            <a:endParaRPr lang="de-DE"/>
          </a:p>
        </p:txBody>
      </p:sp>
      <p:sp>
        <p:nvSpPr>
          <p:cNvPr id="32" name="Shape 30"/>
          <p:cNvSpPr/>
          <p:nvPr/>
        </p:nvSpPr>
        <p:spPr>
          <a:xfrm>
            <a:off x="9908438" y="1978762"/>
            <a:ext cx="256032" cy="256032"/>
          </a:xfrm>
          <a:prstGeom prst="ellipse">
            <a:avLst/>
          </a:prstGeom>
          <a:solidFill>
            <a:srgbClr val="E07A3F"/>
          </a:solidFill>
          <a:ln w="6350">
            <a:solidFill>
              <a:srgbClr val="14331F"/>
            </a:solidFill>
            <a:prstDash val="solid"/>
          </a:ln>
        </p:spPr>
        <p:txBody>
          <a:bodyPr/>
          <a:lstStyle/>
          <a:p>
            <a:endParaRPr lang="de-DE"/>
          </a:p>
        </p:txBody>
      </p:sp>
      <p:sp>
        <p:nvSpPr>
          <p:cNvPr id="33" name="Shape 31"/>
          <p:cNvSpPr/>
          <p:nvPr/>
        </p:nvSpPr>
        <p:spPr>
          <a:xfrm>
            <a:off x="11384280" y="4211726"/>
            <a:ext cx="164592" cy="164592"/>
          </a:xfrm>
          <a:prstGeom prst="ellipse">
            <a:avLst/>
          </a:prstGeom>
          <a:solidFill>
            <a:srgbClr val="7BB274"/>
          </a:solidFill>
          <a:ln w="6350">
            <a:solidFill>
              <a:srgbClr val="14331F"/>
            </a:solidFill>
            <a:prstDash val="solid"/>
          </a:ln>
        </p:spPr>
        <p:txBody>
          <a:bodyPr/>
          <a:lstStyle/>
          <a:p>
            <a:endParaRPr lang="de-DE"/>
          </a:p>
        </p:txBody>
      </p:sp>
      <p:sp>
        <p:nvSpPr>
          <p:cNvPr id="34" name="Shape 32"/>
          <p:cNvSpPr/>
          <p:nvPr/>
        </p:nvSpPr>
        <p:spPr>
          <a:xfrm>
            <a:off x="12029846" y="2922422"/>
            <a:ext cx="219456" cy="219456"/>
          </a:xfrm>
          <a:prstGeom prst="ellipse">
            <a:avLst/>
          </a:prstGeom>
          <a:solidFill>
            <a:srgbClr val="A9C9A0"/>
          </a:solidFill>
          <a:ln w="6350">
            <a:solidFill>
              <a:srgbClr val="14331F"/>
            </a:solidFill>
            <a:prstDash val="solid"/>
          </a:ln>
        </p:spPr>
        <p:txBody>
          <a:bodyPr/>
          <a:lstStyle/>
          <a:p>
            <a:endParaRPr lang="de-DE"/>
          </a:p>
        </p:txBody>
      </p:sp>
      <p:sp>
        <p:nvSpPr>
          <p:cNvPr id="35" name="Shape 33"/>
          <p:cNvSpPr/>
          <p:nvPr/>
        </p:nvSpPr>
        <p:spPr>
          <a:xfrm>
            <a:off x="9524390" y="4454957"/>
            <a:ext cx="182880" cy="182880"/>
          </a:xfrm>
          <a:prstGeom prst="ellipse">
            <a:avLst/>
          </a:prstGeom>
          <a:solidFill>
            <a:srgbClr val="2F6E4F"/>
          </a:solidFill>
          <a:ln w="6350">
            <a:solidFill>
              <a:srgbClr val="14331F"/>
            </a:solidFill>
            <a:prstDash val="solid"/>
          </a:ln>
        </p:spPr>
        <p:txBody>
          <a:bodyPr/>
          <a:lstStyle/>
          <a:p>
            <a:endParaRPr lang="de-DE"/>
          </a:p>
        </p:txBody>
      </p:sp>
      <p:sp>
        <p:nvSpPr>
          <p:cNvPr id="36" name="Shape 34"/>
          <p:cNvSpPr/>
          <p:nvPr/>
        </p:nvSpPr>
        <p:spPr>
          <a:xfrm>
            <a:off x="10552176" y="3295498"/>
            <a:ext cx="146304" cy="146304"/>
          </a:xfrm>
          <a:prstGeom prst="ellipse">
            <a:avLst/>
          </a:prstGeom>
          <a:solidFill>
            <a:srgbClr val="7BB274"/>
          </a:solidFill>
          <a:ln w="6350">
            <a:solidFill>
              <a:srgbClr val="14331F"/>
            </a:solidFill>
            <a:prstDash val="solid"/>
          </a:ln>
        </p:spPr>
        <p:txBody>
          <a:bodyPr/>
          <a:lstStyle/>
          <a:p>
            <a:endParaRPr lang="de-D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1891</Words>
  <Application>Microsoft Macintosh PowerPoint</Application>
  <PresentationFormat>Breitbild</PresentationFormat>
  <Paragraphs>158</Paragraphs>
  <Slides>13</Slides>
  <Notes>13</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Arial</vt:lpstr>
      <vt:lpstr>Calibri</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Optimising Product Placement Using Grocery Purchase Data</dc:title>
  <dc:subject>PptxGenJS Presentation</dc:subject>
  <dc:creator>Group 11 — Lara Pestrin, Jonathan Kull, Veprim Mehmeti</dc:creator>
  <cp:lastModifiedBy>Lara Cristina Pestrin</cp:lastModifiedBy>
  <cp:revision>3</cp:revision>
  <dcterms:created xsi:type="dcterms:W3CDTF">2026-05-14T23:32:13Z</dcterms:created>
  <dcterms:modified xsi:type="dcterms:W3CDTF">2026-05-17T08:26:36Z</dcterms:modified>
</cp:coreProperties>
</file>