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28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789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7BB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ZHAW  ·  VISUALISATION &amp; DATA SCIENCE STORYTELLING II  ·  FS 2025/26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1783080"/>
            <a:ext cx="8412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Optimising Product Placement</a:t>
            </a:r>
            <a:endParaRPr lang="en-US" sz="41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Grocery Purchase Data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777240" y="41605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that turns 3.2 million Instacart orders into assortment, cross-sell and retention decisions for grocery delivery.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5532120"/>
            <a:ext cx="1005840" cy="0"/>
          </a:xfrm>
          <a:prstGeom prst="line">
            <a:avLst/>
          </a:prstGeom>
          <a:noFill/>
          <a:ln w="31750">
            <a:solidFill>
              <a:srgbClr val="E07A3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7724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Pestrin   ·   Jonathan Kull   ·   Veprim Mehmeti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646920" y="2834640"/>
            <a:ext cx="757123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9646920" y="2834640"/>
            <a:ext cx="504749" cy="757123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9646920" y="2834640"/>
            <a:ext cx="0" cy="504749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10404043" y="2414016"/>
            <a:ext cx="504749" cy="672998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10908792" y="3087014"/>
            <a:ext cx="672998" cy="16825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10908792" y="3087014"/>
            <a:ext cx="336499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10404043" y="2414016"/>
            <a:ext cx="841248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10151669" y="3591763"/>
            <a:ext cx="504749" cy="420624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9646920" y="2834640"/>
            <a:ext cx="0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9058046" y="3339389"/>
            <a:ext cx="0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9646920" y="2834640"/>
            <a:ext cx="252374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11581790" y="3255264"/>
            <a:ext cx="420624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0656418" y="4012387"/>
            <a:ext cx="672998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9058046" y="3339389"/>
            <a:ext cx="420624" cy="841248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9363456" y="2551176"/>
            <a:ext cx="566928" cy="566928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10266883" y="2276856"/>
            <a:ext cx="274320" cy="274320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10716768" y="2894990"/>
            <a:ext cx="384048" cy="384048"/>
          </a:xfrm>
          <a:prstGeom prst="ellipse">
            <a:avLst/>
          </a:prstGeom>
          <a:solidFill>
            <a:srgbClr val="E07A3F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10041941" y="3482035"/>
            <a:ext cx="219456" cy="219456"/>
          </a:xfrm>
          <a:prstGeom prst="ellipse">
            <a:avLst/>
          </a:prstGeom>
          <a:solidFill>
            <a:srgbClr val="A9C9A0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8902598" y="3183941"/>
            <a:ext cx="310896" cy="310896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9125712" y="2061058"/>
            <a:ext cx="201168" cy="201168"/>
          </a:xfrm>
          <a:prstGeom prst="ellipse">
            <a:avLst/>
          </a:prstGeom>
          <a:solidFill>
            <a:srgbClr val="5B8DB8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11153851" y="2238451"/>
            <a:ext cx="182880" cy="182880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11417198" y="3090672"/>
            <a:ext cx="329184" cy="329184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10537546" y="3893515"/>
            <a:ext cx="237744" cy="237744"/>
          </a:xfrm>
          <a:prstGeom prst="ellipse">
            <a:avLst/>
          </a:prstGeom>
          <a:solidFill>
            <a:srgbClr val="5B8DB8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8639251" y="2584094"/>
            <a:ext cx="164592" cy="164592"/>
          </a:xfrm>
          <a:prstGeom prst="ellipse">
            <a:avLst/>
          </a:prstGeom>
          <a:solidFill>
            <a:srgbClr val="A9C9A0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9771278" y="1613002"/>
            <a:ext cx="256032" cy="256032"/>
          </a:xfrm>
          <a:prstGeom prst="ellipse">
            <a:avLst/>
          </a:prstGeom>
          <a:solidFill>
            <a:srgbClr val="E07A3F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11247120" y="3845966"/>
            <a:ext cx="164592" cy="164592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11892686" y="2556662"/>
            <a:ext cx="219456" cy="219456"/>
          </a:xfrm>
          <a:prstGeom prst="ellipse">
            <a:avLst/>
          </a:prstGeom>
          <a:solidFill>
            <a:srgbClr val="A9C9A0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9387230" y="4089197"/>
            <a:ext cx="182880" cy="182880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10415016" y="2929738"/>
            <a:ext cx="146304" cy="146304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Grocery delivery lives or dies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its assortment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5074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platforms like Flink or Gorillas manage thousands of products and have to keep optimising what they stock — balancing customer demand, storage capacity and delivery efficiency.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 planners and buyers make these calls every week, often from manual Excel reports. They need a faster, more intuitive, data-driven foundation — and that is what this project set out to build.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55080" y="1417320"/>
            <a:ext cx="5029200" cy="4754880"/>
          </a:xfrm>
          <a:prstGeom prst="roundRect">
            <a:avLst>
              <a:gd name="adj" fmla="val 1731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675120" y="1755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WE SET OUT TO ANSWER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751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42048" y="22585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purchased most frequently?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42048" y="3044952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commonly bought together?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7512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42048" y="3831336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earn the highest customer loyalty?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42048" y="46177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— by day and hour — are orders placed?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75120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242048" y="5404104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mean for assortment and retention?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3.2 million real grocery orders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2F6E4F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77240" y="208483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9443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analysed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0" y="187452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474720" y="208483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206K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11880" y="29443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172200" y="208483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49.7K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29443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1874520"/>
            <a:ext cx="2542032" cy="1691640"/>
          </a:xfrm>
          <a:prstGeom prst="roundRect">
            <a:avLst>
              <a:gd name="adj" fmla="val 4324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8869680" y="208483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06840" y="29443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Departments, 134 aisles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3977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Instacart Online Grocery dataset (2017)  </a:t>
            </a:r>
            <a:r>
              <a:rPr lang="en-US" sz="14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public, fully anonymised set of US grocery-delivery orders. It spans six linked tables — orders, order-products, products, aisles and departments — covering roughly 3.4 million orders in total, of which 3.2 million prior orders form the basis of every chart in this deck.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   </a:t>
            </a:r>
            <a:r>
              <a:rPr lang="en-US" sz="12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has no absolute dates (only day-of-week and hour) and reflects US shopping behaviour in 2017 — patterns, not exact forecasts.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people make these calls every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02920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029200" cy="109728"/>
          </a:xfrm>
          <a:prstGeom prst="rect">
            <a:avLst/>
          </a:prstGeom>
          <a:solidFill>
            <a:srgbClr val="2F6E4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assets/avatar_sand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57984"/>
            <a:ext cx="950976" cy="950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58568" y="22494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Sandra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276856" y="2697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ASSORTMENT PLANNER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143000" y="32918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· Business Administration · 5 years in grocery retail · medium data literacy, no coding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40233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b="1" kern="0" spc="10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
</a:t>
            </a:r>
            <a:r>
              <a:rPr lang="en-US" sz="13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 visual overview of top products and what sells together — without manual Excel prep.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43000" y="50292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b="1" kern="0" spc="1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
</a:t>
            </a:r>
            <a:r>
              <a:rPr lang="en-US" sz="13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slow and error-prone; co-purchase relationships are invisible in current tools.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1783080"/>
            <a:ext cx="5029200" cy="4434840"/>
          </a:xfrm>
          <a:prstGeom prst="roundRect">
            <a:avLst>
              <a:gd name="adj" fmla="val 1443"/>
            </a:avLst>
          </a:prstGeom>
          <a:solidFill>
            <a:srgbClr val="FFFFFF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6355080" y="1783080"/>
            <a:ext cx="5029200" cy="109728"/>
          </a:xfrm>
          <a:prstGeom prst="rect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4" name="Image 1" descr="assets/avatar_mar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57984"/>
            <a:ext cx="950976" cy="9509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36408" y="22494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Marco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854696" y="2697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720840" y="32918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· Retail Management · 2 years in e-commerce grocery · comfortable with KPIs, no coding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720840" y="40233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b="1" kern="0" spc="10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
</a:t>
            </a:r>
            <a:r>
              <a:rPr lang="en-US" sz="13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listing, delisting and supplier talks — and a way to spot loyal niche products.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720840" y="502920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b="1" kern="0" spc="1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
</a:t>
            </a:r>
            <a:r>
              <a:rPr lang="en-US" sz="13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lean on intuition; high-loyalty 'hidden gems' never show up in standard sales reports.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7BB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interactive Streamlit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exploration, not static reporting. Three sections mirror the way planners and buyers actually think about the business.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3456432" cy="3429000"/>
          </a:xfrm>
          <a:prstGeom prst="roundRect">
            <a:avLst>
              <a:gd name="adj" fmla="val 1867"/>
            </a:avLst>
          </a:prstGeom>
          <a:solidFill>
            <a:srgbClr val="1E4630"/>
          </a:solidFill>
          <a:ln w="12700">
            <a:solidFill>
              <a:srgbClr val="2F6E4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3310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Overview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page — six headline metrics for instant orientation.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24712" y="4681728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customers, products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 &amp; peak hour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department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2514600"/>
            <a:ext cx="3456432" cy="3429000"/>
          </a:xfrm>
          <a:prstGeom prst="roundRect">
            <a:avLst>
              <a:gd name="adj" fmla="val 1867"/>
            </a:avLst>
          </a:prstGeom>
          <a:solidFill>
            <a:srgbClr val="1E4630"/>
          </a:solidFill>
          <a:ln w="12700">
            <a:solidFill>
              <a:srgbClr val="2F6E4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727448" y="2743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27448" y="3310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Development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27448" y="3931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sells, and what sells together.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4681728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sales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bought together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37576" y="2514600"/>
            <a:ext cx="3456432" cy="3429000"/>
          </a:xfrm>
          <a:prstGeom prst="roundRect">
            <a:avLst>
              <a:gd name="adj" fmla="val 1867"/>
            </a:avLst>
          </a:prstGeom>
          <a:solidFill>
            <a:srgbClr val="1E4630"/>
          </a:solidFill>
          <a:ln w="12700">
            <a:solidFill>
              <a:srgbClr val="2F6E4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357616" y="2743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57616" y="3310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Retention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57616" y="39319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comes back, and when.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85048" y="4681728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rate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</a:t>
            </a:r>
            <a:endParaRPr lang="en-US" sz="11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Shopping-time heatmap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B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locally:  streamlit run deployment/app.py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D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D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01 · PRODUCT DEVELOPMENT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produce owns the top of the basket</a:t>
            </a:r>
            <a:endParaRPr lang="en-US" sz="3000" dirty="0"/>
          </a:p>
        </p:txBody>
      </p:sp>
      <p:pic>
        <p:nvPicPr>
          <p:cNvPr id="4" name="Image 0" descr="assets/chart_top_sell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88820"/>
            <a:ext cx="679765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32090" y="1874520"/>
            <a:ext cx="3382366" cy="2971800"/>
          </a:xfrm>
          <a:prstGeom prst="roundRect">
            <a:avLst>
              <a:gd name="adj" fmla="val 2462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8324698" y="2121408"/>
            <a:ext cx="2797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24698" y="2432304"/>
            <a:ext cx="27971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entire top 15 is fresh fruit and vegetables.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Bananas lead at 0.47M purchases, followed by Bag of Organic Bananas and Organic Strawberries. More than half of the top sellers carry an “Organic” label.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32090" y="5074920"/>
            <a:ext cx="64008" cy="1097280"/>
          </a:xfrm>
          <a:prstGeom prst="rect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8278978" y="5074920"/>
            <a:ext cx="31354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b="1" kern="0" spc="15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produce and a credible organic range are non-negotiable for the core assortment.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02 · PRODUCT DEVELOPMENT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drives almost a third of all volume</a:t>
            </a:r>
            <a:endParaRPr lang="en-US" sz="3000" dirty="0"/>
          </a:p>
        </p:txBody>
      </p:sp>
      <p:pic>
        <p:nvPicPr>
          <p:cNvPr id="4" name="Image 0" descr="assets/chart_department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7380"/>
            <a:ext cx="6081217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657" y="1874520"/>
            <a:ext cx="4098798" cy="2971800"/>
          </a:xfrm>
          <a:prstGeom prst="roundRect">
            <a:avLst>
              <a:gd name="adj" fmla="val 2462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7608265" y="2121408"/>
            <a:ext cx="3513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08265" y="2432304"/>
            <a:ext cx="351358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 and Dairy &amp; Eggs dwarf every other department.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drives ~9.5M purchases and Dairy &amp; Eggs ~5.4M. The next tier — snacks, beverages, frozen, pantry — is all convenience food. Bulk, alcohol and pets barely register.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657" y="5074920"/>
            <a:ext cx="64008" cy="1097280"/>
          </a:xfrm>
          <a:prstGeom prst="rect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7562545" y="5074920"/>
            <a:ext cx="385191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b="1" kern="0" spc="15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the assortment on produce and dairy; treat convenience categories as the growth layer.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03 · PRODUCT DEVELOPMENT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Co-purchase analysis reveals natural baskets</a:t>
            </a:r>
            <a:endParaRPr lang="en-US" sz="3000" dirty="0"/>
          </a:p>
        </p:txBody>
      </p:sp>
      <p:pic>
        <p:nvPicPr>
          <p:cNvPr id="4" name="Image 0" descr="assets/chart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10512"/>
            <a:ext cx="5845119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79559" y="1810512"/>
            <a:ext cx="4334896" cy="3310128"/>
          </a:xfrm>
          <a:prstGeom prst="roundRect">
            <a:avLst>
              <a:gd name="adj" fmla="val 2210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7372167" y="2048256"/>
            <a:ext cx="37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72167" y="2322576"/>
            <a:ext cx="374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bought together far more than chance form three clear clusters among the 500 most-purchased items (lift ≥ 2):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90455" y="3374136"/>
            <a:ext cx="164592" cy="164592"/>
          </a:xfrm>
          <a:prstGeom prst="ellipse">
            <a:avLst/>
          </a:prstGeom>
          <a:solidFill>
            <a:srgbClr val="2F6E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7664775" y="3310128"/>
            <a:ext cx="3420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vegetables &amp; aromatics
</a:t>
            </a: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spinach, avocado, onion, garlic, lemon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90455" y="3959352"/>
            <a:ext cx="164592" cy="164592"/>
          </a:xfrm>
          <a:prstGeom prst="ellipse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7664775" y="3895344"/>
            <a:ext cx="3420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fruit &amp; milk
</a:t>
            </a: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banana, berries, apples, whole milk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90455" y="4544568"/>
            <a:ext cx="164592" cy="164592"/>
          </a:xfrm>
          <a:prstGeom prst="ellipse">
            <a:avLst/>
          </a:prstGeom>
          <a:solidFill>
            <a:srgbClr val="5B8DB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7664775" y="4480560"/>
            <a:ext cx="3420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organic basket
</a:t>
            </a:r>
            <a:r>
              <a:rPr lang="en-US" sz="105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bananas, berries, almond milk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79559" y="5349240"/>
            <a:ext cx="64008" cy="914400"/>
          </a:xfrm>
          <a:prstGeom prst="rect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7326447" y="5349240"/>
            <a:ext cx="4088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b="1" kern="0" spc="15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cluster members in the same app category, recommend across links, and bundle the strongest pairs.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04 · CUSTOMER RETENTION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loyalty is built on milk</a:t>
            </a:r>
            <a:endParaRPr lang="en-US" sz="3000" dirty="0"/>
          </a:p>
        </p:txBody>
      </p:sp>
      <p:pic>
        <p:nvPicPr>
          <p:cNvPr id="4" name="Image 0" descr="assets/chart_reorder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88820"/>
            <a:ext cx="679765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32090" y="1874520"/>
            <a:ext cx="3382366" cy="2971800"/>
          </a:xfrm>
          <a:prstGeom prst="roundRect">
            <a:avLst>
              <a:gd name="adj" fmla="val 2462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8324698" y="2121408"/>
            <a:ext cx="2797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24698" y="2432304"/>
            <a:ext cx="27971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runs on milk and water.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reorder rate is 58.9% — a highly habitual base. Among products with 500+ purchases, the highest reorder rates (84–86%) are almost entirely milk and water.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32090" y="5074920"/>
            <a:ext cx="64008" cy="1097280"/>
          </a:xfrm>
          <a:prstGeom prst="rect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8278978" y="5074920"/>
            <a:ext cx="31354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b="1" kern="0" spc="15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staples are ideal candidates for subscriptions and automatic reorder reminders.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05 · CUSTOMER RETENTION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gems: small categories, loyal fans</a:t>
            </a:r>
            <a:endParaRPr lang="en-US" sz="3000" dirty="0"/>
          </a:p>
        </p:txBody>
      </p:sp>
      <p:pic>
        <p:nvPicPr>
          <p:cNvPr id="4" name="Image 0" descr="assets/chart_hidden_g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71700"/>
            <a:ext cx="6752021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86461" y="1874520"/>
            <a:ext cx="3427994" cy="2971800"/>
          </a:xfrm>
          <a:prstGeom prst="roundRect">
            <a:avLst>
              <a:gd name="adj" fmla="val 2462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8279069" y="2121408"/>
            <a:ext cx="284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79069" y="2432304"/>
            <a:ext cx="284277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categories, surprisingly loyal customers.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five biggest departments, breads, hams and wraps still reach 78–83% reorder rates despite low volume — a loyal base that is invisible in standard reports.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86461" y="5074920"/>
            <a:ext cx="64008" cy="1097280"/>
          </a:xfrm>
          <a:prstGeom prst="rect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8233349" y="5074920"/>
            <a:ext cx="31811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b="1" kern="0" spc="15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
</a:t>
            </a: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these niche products from delisting; they punch above their volume in retention.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06 · CUSTOMER RETENTION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Sunday and Monday mornings carry the week</a:t>
            </a:r>
            <a:endParaRPr lang="en-US" sz="3000" dirty="0"/>
          </a:p>
        </p:txBody>
      </p:sp>
      <p:pic>
        <p:nvPicPr>
          <p:cNvPr id="4" name="Image 0" descr="assets/chart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68" y="1783080"/>
            <a:ext cx="9509760" cy="342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285232"/>
            <a:ext cx="10634472" cy="960120"/>
          </a:xfrm>
          <a:prstGeom prst="roundRect">
            <a:avLst>
              <a:gd name="adj" fmla="val 7619"/>
            </a:avLst>
          </a:prstGeom>
          <a:solidFill>
            <a:srgbClr val="EEF2EC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77240" y="5285232"/>
            <a:ext cx="64008" cy="960120"/>
          </a:xfrm>
          <a:prstGeom prst="rect">
            <a:avLst/>
          </a:prstGeom>
          <a:solidFill>
            <a:srgbClr val="2F6E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1069848" y="5358384"/>
            <a:ext cx="10058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b="1" kern="0" spc="15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  </a:t>
            </a:r>
            <a:r>
              <a:rPr lang="en-US" sz="12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cluster on Sunday and Monday, roughly 9:00–16:00, and fall away sharply before 7:00 and after 19:00.
</a:t>
            </a:r>
            <a:r>
              <a:rPr lang="en-US" sz="1050" b="1" kern="0" spc="15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r>
              <a:rPr lang="en-US" sz="120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up for the weekly peak; push promotions on Saturday evening to catch early planners.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data to assortment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2615184" cy="41605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615184" cy="100584"/>
          </a:xfrm>
          <a:prstGeom prst="rect">
            <a:avLst/>
          </a:prstGeom>
          <a:solidFill>
            <a:srgbClr val="2F6E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069848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69848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on fresh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36576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produce and a credible organic range the non-negotiable core of the assortment.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69848" y="5532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SANDRA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57016" y="1874520"/>
            <a:ext cx="2615184" cy="41605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557016" y="1874520"/>
            <a:ext cx="2615184" cy="100584"/>
          </a:xfrm>
          <a:prstGeom prst="rect">
            <a:avLst/>
          </a:prstGeom>
          <a:solidFill>
            <a:srgbClr val="E07A3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849624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07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849624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Bundle the clusters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9624" y="36576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co-purchased products together and cross-sell across the strongest links.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9624" y="5532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0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MARCO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36792" y="1874520"/>
            <a:ext cx="2615184" cy="41605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336792" y="1874520"/>
            <a:ext cx="2615184" cy="100584"/>
          </a:xfrm>
          <a:prstGeom prst="rect">
            <a:avLst/>
          </a:prstGeom>
          <a:solidFill>
            <a:srgbClr val="5B8DB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629400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629400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Subscribe the staples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36576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milk, water and other high-reorder staples as subscriptions and auto-reorders.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5532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SANDRA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16568" y="1874520"/>
            <a:ext cx="2615184" cy="416052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8E0D4"/>
            </a:solidFill>
            <a:prstDash val="solid"/>
          </a:ln>
          <a:effectLst>
            <a:outerShdw blurRad="114300" dist="38100" dir="8100000" algn="bl" rotWithShape="0">
              <a:srgbClr val="1C2E22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9116568" y="1874520"/>
            <a:ext cx="2615184" cy="100584"/>
          </a:xfrm>
          <a:prstGeom prst="rect">
            <a:avLst/>
          </a:prstGeom>
          <a:solidFill>
            <a:srgbClr val="2F6E4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9409176" y="2148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6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409176" y="288036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C2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the gems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09176" y="365760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C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loyal niche products on the shelf — they retain customers despite low volume.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409176" y="553212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F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MARCO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Product Placement Analysis  ·  Group 11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62895" y="6455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3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7BB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million orders,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clear shelf strategy.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34290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A9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turns anonymised purchase data into decisions Sandra and Marco can act on — faster, more intuitively, and without writing a line of code.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4617720"/>
            <a:ext cx="1005840" cy="0"/>
          </a:xfrm>
          <a:prstGeom prst="line">
            <a:avLst/>
          </a:prstGeom>
          <a:noFill/>
          <a:ln w="31750">
            <a:solidFill>
              <a:srgbClr val="E07A3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77240" y="4846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BB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github.com/peslar01/ad24-11-grocery-product-placement-analysis
</a:t>
            </a:r>
            <a:r>
              <a:rPr lang="en-US" sz="1350" b="1" dirty="0">
                <a:solidFill>
                  <a:srgbClr val="7BB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deployment/app.py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 Pestrin   ·   Jonathan Kull   ·   Veprim Mehmeti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84080" y="3200400"/>
            <a:ext cx="757123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9784080" y="3200400"/>
            <a:ext cx="504749" cy="757123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9784080" y="3200400"/>
            <a:ext cx="0" cy="504749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10541203" y="2779776"/>
            <a:ext cx="504749" cy="672998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11045952" y="3452774"/>
            <a:ext cx="672998" cy="16825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11045952" y="3452774"/>
            <a:ext cx="336499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10541203" y="2779776"/>
            <a:ext cx="841248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10288829" y="3957523"/>
            <a:ext cx="504749" cy="420624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9784080" y="3200400"/>
            <a:ext cx="0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9195206" y="3705149"/>
            <a:ext cx="0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9784080" y="3200400"/>
            <a:ext cx="252374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11718950" y="3621024"/>
            <a:ext cx="420624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10793578" y="4378147"/>
            <a:ext cx="672998" cy="0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9195206" y="3705149"/>
            <a:ext cx="420624" cy="841248"/>
          </a:xfrm>
          <a:prstGeom prst="line">
            <a:avLst/>
          </a:prstGeom>
          <a:noFill/>
          <a:ln w="9525">
            <a:solidFill>
              <a:srgbClr val="7BB27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9500616" y="2916936"/>
            <a:ext cx="566928" cy="566928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10404043" y="2642616"/>
            <a:ext cx="274320" cy="274320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10853928" y="3260750"/>
            <a:ext cx="384048" cy="384048"/>
          </a:xfrm>
          <a:prstGeom prst="ellipse">
            <a:avLst/>
          </a:prstGeom>
          <a:solidFill>
            <a:srgbClr val="E07A3F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10179101" y="3847795"/>
            <a:ext cx="219456" cy="219456"/>
          </a:xfrm>
          <a:prstGeom prst="ellipse">
            <a:avLst/>
          </a:prstGeom>
          <a:solidFill>
            <a:srgbClr val="A9C9A0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9039758" y="3549701"/>
            <a:ext cx="310896" cy="310896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9262872" y="2426818"/>
            <a:ext cx="201168" cy="201168"/>
          </a:xfrm>
          <a:prstGeom prst="ellipse">
            <a:avLst/>
          </a:prstGeom>
          <a:solidFill>
            <a:srgbClr val="5B8DB8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11291011" y="2604211"/>
            <a:ext cx="182880" cy="182880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11554358" y="3456432"/>
            <a:ext cx="329184" cy="329184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10674706" y="4259275"/>
            <a:ext cx="237744" cy="237744"/>
          </a:xfrm>
          <a:prstGeom prst="ellipse">
            <a:avLst/>
          </a:prstGeom>
          <a:solidFill>
            <a:srgbClr val="5B8DB8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8776411" y="2949854"/>
            <a:ext cx="164592" cy="164592"/>
          </a:xfrm>
          <a:prstGeom prst="ellipse">
            <a:avLst/>
          </a:prstGeom>
          <a:solidFill>
            <a:srgbClr val="A9C9A0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9908438" y="1978762"/>
            <a:ext cx="256032" cy="256032"/>
          </a:xfrm>
          <a:prstGeom prst="ellipse">
            <a:avLst/>
          </a:prstGeom>
          <a:solidFill>
            <a:srgbClr val="E07A3F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11384280" y="4211726"/>
            <a:ext cx="164592" cy="164592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Shape 32"/>
          <p:cNvSpPr/>
          <p:nvPr/>
        </p:nvSpPr>
        <p:spPr>
          <a:xfrm>
            <a:off x="12029846" y="2922422"/>
            <a:ext cx="219456" cy="219456"/>
          </a:xfrm>
          <a:prstGeom prst="ellipse">
            <a:avLst/>
          </a:prstGeom>
          <a:solidFill>
            <a:srgbClr val="A9C9A0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9524390" y="4454957"/>
            <a:ext cx="182880" cy="182880"/>
          </a:xfrm>
          <a:prstGeom prst="ellipse">
            <a:avLst/>
          </a:prstGeom>
          <a:solidFill>
            <a:srgbClr val="2F6E4F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10552176" y="3295498"/>
            <a:ext cx="146304" cy="146304"/>
          </a:xfrm>
          <a:prstGeom prst="ellipse">
            <a:avLst/>
          </a:prstGeom>
          <a:solidFill>
            <a:srgbClr val="7BB274"/>
          </a:solidFill>
          <a:ln w="6350">
            <a:solidFill>
              <a:srgbClr val="14331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1218</Words>
  <Application>Microsoft Macintosh PowerPoint</Application>
  <PresentationFormat>Breitbild</PresentationFormat>
  <Paragraphs>161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Optimising Product Placement Using Grocery Purchase Data</dc:title>
  <dc:subject>PptxGenJS Presentation</dc:subject>
  <dc:creator>Group 11 — Lara Pestrin, Jonathan Kull, Veprim Mehmeti</dc:creator>
  <cp:lastModifiedBy>Lara Cristina Pestrin</cp:lastModifiedBy>
  <cp:revision>2</cp:revision>
  <dcterms:created xsi:type="dcterms:W3CDTF">2026-05-14T19:09:14Z</dcterms:created>
  <dcterms:modified xsi:type="dcterms:W3CDTF">2026-05-14T19:40:37Z</dcterms:modified>
</cp:coreProperties>
</file>