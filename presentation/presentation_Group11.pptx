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2"/>
    <p:restoredTop sz="94678"/>
  </p:normalViewPr>
  <p:slideViewPr>
    <p:cSldViewPr snapToGrid="0" snapToObjects="1">
      <p:cViewPr varScale="1">
        <p:scale>
          <a:sx n="139" d="100"/>
          <a:sy n="139" d="100"/>
        </p:scale>
        <p:origin x="17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0"/>
            <c:bubble3D val="0"/>
            <c:spPr>
              <a:solidFill>
                <a:srgbClr val="96B3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D31-2C41-9E3C-F8361BC97751}"/>
              </c:ext>
            </c:extLst>
          </c:dPt>
          <c:dPt>
            <c:idx val="1"/>
            <c:invertIfNegative val="0"/>
            <c:bubble3D val="0"/>
            <c:spPr>
              <a:solidFill>
                <a:srgbClr val="8DAD9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D31-2C41-9E3C-F8361BC97751}"/>
              </c:ext>
            </c:extLst>
          </c:dPt>
          <c:dPt>
            <c:idx val="2"/>
            <c:invertIfNegative val="0"/>
            <c:bubble3D val="0"/>
            <c:spPr>
              <a:solidFill>
                <a:srgbClr val="85A79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D31-2C41-9E3C-F8361BC97751}"/>
              </c:ext>
            </c:extLst>
          </c:dPt>
          <c:dPt>
            <c:idx val="3"/>
            <c:invertIfNegative val="0"/>
            <c:bubble3D val="0"/>
            <c:spPr>
              <a:solidFill>
                <a:srgbClr val="7DA1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0D31-2C41-9E3C-F8361BC97751}"/>
              </c:ext>
            </c:extLst>
          </c:dPt>
          <c:dPt>
            <c:idx val="4"/>
            <c:invertIfNegative val="0"/>
            <c:bubble3D val="0"/>
            <c:spPr>
              <a:solidFill>
                <a:srgbClr val="759B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0D31-2C41-9E3C-F8361BC97751}"/>
              </c:ext>
            </c:extLst>
          </c:dPt>
          <c:dPt>
            <c:idx val="5"/>
            <c:invertIfNegative val="0"/>
            <c:bubble3D val="0"/>
            <c:spPr>
              <a:solidFill>
                <a:srgbClr val="6D95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0D31-2C41-9E3C-F8361BC97751}"/>
              </c:ext>
            </c:extLst>
          </c:dPt>
          <c:dPt>
            <c:idx val="6"/>
            <c:invertIfNegative val="0"/>
            <c:bubble3D val="0"/>
            <c:spPr>
              <a:solidFill>
                <a:srgbClr val="658F7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0D31-2C41-9E3C-F8361BC97751}"/>
              </c:ext>
            </c:extLst>
          </c:dPt>
          <c:dPt>
            <c:idx val="7"/>
            <c:invertIfNegative val="0"/>
            <c:bubble3D val="0"/>
            <c:spPr>
              <a:solidFill>
                <a:srgbClr val="5D8A6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0D31-2C41-9E3C-F8361BC97751}"/>
              </c:ext>
            </c:extLst>
          </c:dPt>
          <c:dPt>
            <c:idx val="8"/>
            <c:invertIfNegative val="0"/>
            <c:bubble3D val="0"/>
            <c:spPr>
              <a:solidFill>
                <a:srgbClr val="55846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0D31-2C41-9E3C-F8361BC97751}"/>
              </c:ext>
            </c:extLst>
          </c:dPt>
          <c:dPt>
            <c:idx val="9"/>
            <c:invertIfNegative val="0"/>
            <c:bubble3D val="0"/>
            <c:spPr>
              <a:solidFill>
                <a:srgbClr val="4D7E5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0D31-2C41-9E3C-F8361BC97751}"/>
              </c:ext>
            </c:extLst>
          </c:dPt>
          <c:dPt>
            <c:idx val="10"/>
            <c:invertIfNegative val="0"/>
            <c:bubble3D val="0"/>
            <c:spPr>
              <a:solidFill>
                <a:srgbClr val="45785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0D31-2C41-9E3C-F8361BC97751}"/>
              </c:ext>
            </c:extLst>
          </c:dPt>
          <c:dPt>
            <c:idx val="11"/>
            <c:invertIfNegative val="0"/>
            <c:bubble3D val="0"/>
            <c:spPr>
              <a:solidFill>
                <a:srgbClr val="3D724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0D31-2C41-9E3C-F8361BC97751}"/>
              </c:ext>
            </c:extLst>
          </c:dPt>
          <c:dPt>
            <c:idx val="12"/>
            <c:invertIfNegative val="0"/>
            <c:bubble3D val="0"/>
            <c:spPr>
              <a:solidFill>
                <a:srgbClr val="356C4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0D31-2C41-9E3C-F8361BC97751}"/>
              </c:ext>
            </c:extLst>
          </c:dPt>
          <c:dPt>
            <c:idx val="13"/>
            <c:invertIfNegative val="0"/>
            <c:bubble3D val="0"/>
            <c:spPr>
              <a:solidFill>
                <a:srgbClr val="2D674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0D31-2C41-9E3C-F8361BC97751}"/>
              </c:ext>
            </c:extLst>
          </c:dPt>
          <c:dPt>
            <c:idx val="14"/>
            <c:invertIfNegative val="0"/>
            <c:bubble3D val="0"/>
            <c:spPr>
              <a:solidFill>
                <a:srgbClr val="1B3D2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0D31-2C41-9E3C-F8361BC977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1A2816"/>
                    </a:solidFill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Organic Blueberries</c:v>
                </c:pt>
                <c:pt idx="1">
                  <c:v>Organic Zucchini</c:v>
                </c:pt>
                <c:pt idx="2">
                  <c:v>Organic Garlic</c:v>
                </c:pt>
                <c:pt idx="3">
                  <c:v>Organic Yellow Onion</c:v>
                </c:pt>
                <c:pt idx="4">
                  <c:v>Organic Raspberries</c:v>
                </c:pt>
                <c:pt idx="5">
                  <c:v>Organic Whole Milk</c:v>
                </c:pt>
                <c:pt idx="6">
                  <c:v>Limes</c:v>
                </c:pt>
                <c:pt idx="7">
                  <c:v>Strawberries</c:v>
                </c:pt>
                <c:pt idx="8">
                  <c:v>Large Lemon</c:v>
                </c:pt>
                <c:pt idx="9">
                  <c:v>Organic Avocado</c:v>
                </c:pt>
                <c:pt idx="10">
                  <c:v>Organic Hass Avocado</c:v>
                </c:pt>
                <c:pt idx="11">
                  <c:v>Organic Baby Spinach</c:v>
                </c:pt>
                <c:pt idx="12">
                  <c:v>Organic Strawberries</c:v>
                </c:pt>
                <c:pt idx="13">
                  <c:v>Bag of Organic Bananas</c:v>
                </c:pt>
                <c:pt idx="14">
                  <c:v>Banana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</c:v>
                </c:pt>
                <c:pt idx="1">
                  <c:v>0.1</c:v>
                </c:pt>
                <c:pt idx="2">
                  <c:v>0.11</c:v>
                </c:pt>
                <c:pt idx="3">
                  <c:v>0.11</c:v>
                </c:pt>
                <c:pt idx="4">
                  <c:v>0.14000000000000001</c:v>
                </c:pt>
                <c:pt idx="5">
                  <c:v>0.14000000000000001</c:v>
                </c:pt>
                <c:pt idx="6">
                  <c:v>0.14000000000000001</c:v>
                </c:pt>
                <c:pt idx="7">
                  <c:v>0.14000000000000001</c:v>
                </c:pt>
                <c:pt idx="8">
                  <c:v>0.15</c:v>
                </c:pt>
                <c:pt idx="9">
                  <c:v>0.18</c:v>
                </c:pt>
                <c:pt idx="10">
                  <c:v>0.21</c:v>
                </c:pt>
                <c:pt idx="11">
                  <c:v>0.24</c:v>
                </c:pt>
                <c:pt idx="12">
                  <c:v>0.26</c:v>
                </c:pt>
                <c:pt idx="13">
                  <c:v>0.38</c:v>
                </c:pt>
                <c:pt idx="14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0D31-2C41-9E3C-F8361BC97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A2816"/>
                </a:solidFill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2"/>
          <c:min val="0"/>
        </c:scaling>
        <c:delete val="0"/>
        <c:axPos val="b"/>
        <c:majorGridlines>
          <c:spPr>
            <a:ln w="6350">
              <a:solidFill>
                <a:srgbClr val="E0E4D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888888"/>
                </a:solidFill>
              </a:defRPr>
            </a:pPr>
            <a:endParaRPr lang="de-DE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0"/>
            <c:bubble3D val="0"/>
            <c:spPr>
              <a:solidFill>
                <a:srgbClr val="96B3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E41-CB46-851A-9E38EB195104}"/>
              </c:ext>
            </c:extLst>
          </c:dPt>
          <c:dPt>
            <c:idx val="1"/>
            <c:invertIfNegative val="0"/>
            <c:bubble3D val="0"/>
            <c:spPr>
              <a:solidFill>
                <a:srgbClr val="90AF9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E41-CB46-851A-9E38EB195104}"/>
              </c:ext>
            </c:extLst>
          </c:dPt>
          <c:dPt>
            <c:idx val="2"/>
            <c:invertIfNegative val="0"/>
            <c:bubble3D val="0"/>
            <c:spPr>
              <a:solidFill>
                <a:srgbClr val="8AAB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E41-CB46-851A-9E38EB195104}"/>
              </c:ext>
            </c:extLst>
          </c:dPt>
          <c:dPt>
            <c:idx val="3"/>
            <c:invertIfNegative val="0"/>
            <c:bubble3D val="0"/>
            <c:spPr>
              <a:solidFill>
                <a:srgbClr val="85A79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4E41-CB46-851A-9E38EB195104}"/>
              </c:ext>
            </c:extLst>
          </c:dPt>
          <c:dPt>
            <c:idx val="4"/>
            <c:invertIfNegative val="0"/>
            <c:bubble3D val="0"/>
            <c:spPr>
              <a:solidFill>
                <a:srgbClr val="7FA3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4E41-CB46-851A-9E38EB195104}"/>
              </c:ext>
            </c:extLst>
          </c:dPt>
          <c:dPt>
            <c:idx val="5"/>
            <c:invertIfNegative val="0"/>
            <c:bubble3D val="0"/>
            <c:spPr>
              <a:solidFill>
                <a:srgbClr val="7A9F8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4E41-CB46-851A-9E38EB195104}"/>
              </c:ext>
            </c:extLst>
          </c:dPt>
          <c:dPt>
            <c:idx val="6"/>
            <c:invertIfNegative val="0"/>
            <c:bubble3D val="0"/>
            <c:spPr>
              <a:solidFill>
                <a:srgbClr val="749B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4E41-CB46-851A-9E38EB195104}"/>
              </c:ext>
            </c:extLst>
          </c:dPt>
          <c:dPt>
            <c:idx val="7"/>
            <c:invertIfNegative val="0"/>
            <c:bubble3D val="0"/>
            <c:spPr>
              <a:solidFill>
                <a:srgbClr val="6F977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4E41-CB46-851A-9E38EB195104}"/>
              </c:ext>
            </c:extLst>
          </c:dPt>
          <c:dPt>
            <c:idx val="8"/>
            <c:invertIfNegative val="0"/>
            <c:bubble3D val="0"/>
            <c:spPr>
              <a:solidFill>
                <a:srgbClr val="69937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4E41-CB46-851A-9E38EB195104}"/>
              </c:ext>
            </c:extLst>
          </c:dPt>
          <c:dPt>
            <c:idx val="9"/>
            <c:invertIfNegative val="0"/>
            <c:bubble3D val="0"/>
            <c:spPr>
              <a:solidFill>
                <a:srgbClr val="648F7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4E41-CB46-851A-9E38EB195104}"/>
              </c:ext>
            </c:extLst>
          </c:dPt>
          <c:dPt>
            <c:idx val="10"/>
            <c:invertIfNegative val="0"/>
            <c:bubble3D val="0"/>
            <c:spPr>
              <a:solidFill>
                <a:srgbClr val="5E8B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4E41-CB46-851A-9E38EB195104}"/>
              </c:ext>
            </c:extLst>
          </c:dPt>
          <c:dPt>
            <c:idx val="11"/>
            <c:invertIfNegative val="0"/>
            <c:bubble3D val="0"/>
            <c:spPr>
              <a:solidFill>
                <a:srgbClr val="59876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4E41-CB46-851A-9E38EB195104}"/>
              </c:ext>
            </c:extLst>
          </c:dPt>
          <c:dPt>
            <c:idx val="12"/>
            <c:invertIfNegative val="0"/>
            <c:bubble3D val="0"/>
            <c:spPr>
              <a:solidFill>
                <a:srgbClr val="53836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4E41-CB46-851A-9E38EB195104}"/>
              </c:ext>
            </c:extLst>
          </c:dPt>
          <c:dPt>
            <c:idx val="13"/>
            <c:invertIfNegative val="0"/>
            <c:bubble3D val="0"/>
            <c:spPr>
              <a:solidFill>
                <a:srgbClr val="4E7F5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4E41-CB46-851A-9E38EB195104}"/>
              </c:ext>
            </c:extLst>
          </c:dPt>
          <c:dPt>
            <c:idx val="14"/>
            <c:invertIfNegative val="0"/>
            <c:bubble3D val="0"/>
            <c:spPr>
              <a:solidFill>
                <a:srgbClr val="487B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4E41-CB46-851A-9E38EB195104}"/>
              </c:ext>
            </c:extLst>
          </c:dPt>
          <c:dPt>
            <c:idx val="15"/>
            <c:invertIfNegative val="0"/>
            <c:bubble3D val="0"/>
            <c:spPr>
              <a:solidFill>
                <a:srgbClr val="43775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4E41-CB46-851A-9E38EB195104}"/>
              </c:ext>
            </c:extLst>
          </c:dPt>
          <c:dPt>
            <c:idx val="16"/>
            <c:invertIfNegative val="0"/>
            <c:bubble3D val="0"/>
            <c:spPr>
              <a:solidFill>
                <a:srgbClr val="3D735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1-4E41-CB46-851A-9E38EB195104}"/>
              </c:ext>
            </c:extLst>
          </c:dPt>
          <c:dPt>
            <c:idx val="17"/>
            <c:invertIfNegative val="0"/>
            <c:bubble3D val="0"/>
            <c:spPr>
              <a:solidFill>
                <a:srgbClr val="386E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4E41-CB46-851A-9E38EB195104}"/>
              </c:ext>
            </c:extLst>
          </c:dPt>
          <c:dPt>
            <c:idx val="18"/>
            <c:invertIfNegative val="0"/>
            <c:bubble3D val="0"/>
            <c:spPr>
              <a:solidFill>
                <a:srgbClr val="326B4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5-4E41-CB46-851A-9E38EB195104}"/>
              </c:ext>
            </c:extLst>
          </c:dPt>
          <c:dPt>
            <c:idx val="19"/>
            <c:invertIfNegative val="0"/>
            <c:bubble3D val="0"/>
            <c:spPr>
              <a:solidFill>
                <a:srgbClr val="2D674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4E41-CB46-851A-9E38EB195104}"/>
              </c:ext>
            </c:extLst>
          </c:dPt>
          <c:dPt>
            <c:idx val="20"/>
            <c:invertIfNegative val="0"/>
            <c:bubble3D val="0"/>
            <c:spPr>
              <a:solidFill>
                <a:srgbClr val="C45C1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9-4E41-CB46-851A-9E38EB1951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1A2816"/>
                    </a:solidFill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bulk</c:v>
                </c:pt>
                <c:pt idx="1">
                  <c:v>other</c:v>
                </c:pt>
                <c:pt idx="2">
                  <c:v>missing</c:v>
                </c:pt>
                <c:pt idx="3">
                  <c:v>pets</c:v>
                </c:pt>
                <c:pt idx="4">
                  <c:v>alcohol</c:v>
                </c:pt>
                <c:pt idx="5">
                  <c:v>international</c:v>
                </c:pt>
                <c:pt idx="6">
                  <c:v>babies</c:v>
                </c:pt>
                <c:pt idx="7">
                  <c:v>personal care</c:v>
                </c:pt>
                <c:pt idx="8">
                  <c:v>meat seafood</c:v>
                </c:pt>
                <c:pt idx="9">
                  <c:v>breakfast</c:v>
                </c:pt>
                <c:pt idx="10">
                  <c:v>household</c:v>
                </c:pt>
                <c:pt idx="11">
                  <c:v>dry goods pasta</c:v>
                </c:pt>
                <c:pt idx="12">
                  <c:v>deli</c:v>
                </c:pt>
                <c:pt idx="13">
                  <c:v>canned goods</c:v>
                </c:pt>
                <c:pt idx="14">
                  <c:v>bakery</c:v>
                </c:pt>
                <c:pt idx="15">
                  <c:v>pantry</c:v>
                </c:pt>
                <c:pt idx="16">
                  <c:v>frozen</c:v>
                </c:pt>
                <c:pt idx="17">
                  <c:v>beverages</c:v>
                </c:pt>
                <c:pt idx="18">
                  <c:v>snacks</c:v>
                </c:pt>
                <c:pt idx="19">
                  <c:v>dairy eggs</c:v>
                </c:pt>
                <c:pt idx="20">
                  <c:v>produce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0.1</c:v>
                </c:pt>
                <c:pt idx="3">
                  <c:v>0.1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0.4</c:v>
                </c:pt>
                <c:pt idx="8">
                  <c:v>0.7</c:v>
                </c:pt>
                <c:pt idx="9">
                  <c:v>0.7</c:v>
                </c:pt>
                <c:pt idx="10">
                  <c:v>0.7</c:v>
                </c:pt>
                <c:pt idx="11">
                  <c:v>0.9</c:v>
                </c:pt>
                <c:pt idx="12">
                  <c:v>1.1000000000000001</c:v>
                </c:pt>
                <c:pt idx="13">
                  <c:v>1.1000000000000001</c:v>
                </c:pt>
                <c:pt idx="14">
                  <c:v>1.2</c:v>
                </c:pt>
                <c:pt idx="15">
                  <c:v>1.9</c:v>
                </c:pt>
                <c:pt idx="16">
                  <c:v>2.2000000000000002</c:v>
                </c:pt>
                <c:pt idx="17">
                  <c:v>2.7</c:v>
                </c:pt>
                <c:pt idx="18">
                  <c:v>2.9</c:v>
                </c:pt>
                <c:pt idx="19">
                  <c:v>5.4</c:v>
                </c:pt>
                <c:pt idx="20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4E41-CB46-851A-9E38EB1951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80">
                <a:solidFill>
                  <a:srgbClr val="1A2816"/>
                </a:solidFill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.5"/>
          <c:min val="0"/>
        </c:scaling>
        <c:delete val="0"/>
        <c:axPos val="b"/>
        <c:majorGridlines>
          <c:spPr>
            <a:ln w="6350">
              <a:solidFill>
                <a:srgbClr val="E0E4D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80">
                <a:solidFill>
                  <a:srgbClr val="888888"/>
                </a:solidFill>
              </a:defRPr>
            </a:pPr>
            <a:endParaRPr lang="de-DE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0"/>
            <c:bubble3D val="0"/>
            <c:spPr>
              <a:solidFill>
                <a:srgbClr val="96B3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D52-9449-85A4-258DCABE71E7}"/>
              </c:ext>
            </c:extLst>
          </c:dPt>
          <c:dPt>
            <c:idx val="1"/>
            <c:invertIfNegative val="0"/>
            <c:bubble3D val="0"/>
            <c:spPr>
              <a:solidFill>
                <a:srgbClr val="8DAD9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D52-9449-85A4-258DCABE71E7}"/>
              </c:ext>
            </c:extLst>
          </c:dPt>
          <c:dPt>
            <c:idx val="2"/>
            <c:invertIfNegative val="0"/>
            <c:bubble3D val="0"/>
            <c:spPr>
              <a:solidFill>
                <a:srgbClr val="85A79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D52-9449-85A4-258DCABE71E7}"/>
              </c:ext>
            </c:extLst>
          </c:dPt>
          <c:dPt>
            <c:idx val="3"/>
            <c:invertIfNegative val="0"/>
            <c:bubble3D val="0"/>
            <c:spPr>
              <a:solidFill>
                <a:srgbClr val="7DA1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D52-9449-85A4-258DCABE71E7}"/>
              </c:ext>
            </c:extLst>
          </c:dPt>
          <c:dPt>
            <c:idx val="4"/>
            <c:invertIfNegative val="0"/>
            <c:bubble3D val="0"/>
            <c:spPr>
              <a:solidFill>
                <a:srgbClr val="759B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D52-9449-85A4-258DCABE71E7}"/>
              </c:ext>
            </c:extLst>
          </c:dPt>
          <c:dPt>
            <c:idx val="5"/>
            <c:invertIfNegative val="0"/>
            <c:bubble3D val="0"/>
            <c:spPr>
              <a:solidFill>
                <a:srgbClr val="6D957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9D52-9449-85A4-258DCABE71E7}"/>
              </c:ext>
            </c:extLst>
          </c:dPt>
          <c:dPt>
            <c:idx val="6"/>
            <c:invertIfNegative val="0"/>
            <c:bubble3D val="0"/>
            <c:spPr>
              <a:solidFill>
                <a:srgbClr val="658F7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9D52-9449-85A4-258DCABE71E7}"/>
              </c:ext>
            </c:extLst>
          </c:dPt>
          <c:dPt>
            <c:idx val="7"/>
            <c:invertIfNegative val="0"/>
            <c:bubble3D val="0"/>
            <c:spPr>
              <a:solidFill>
                <a:srgbClr val="5D8A6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9D52-9449-85A4-258DCABE71E7}"/>
              </c:ext>
            </c:extLst>
          </c:dPt>
          <c:dPt>
            <c:idx val="8"/>
            <c:invertIfNegative val="0"/>
            <c:bubble3D val="0"/>
            <c:spPr>
              <a:solidFill>
                <a:srgbClr val="55846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9D52-9449-85A4-258DCABE71E7}"/>
              </c:ext>
            </c:extLst>
          </c:dPt>
          <c:dPt>
            <c:idx val="9"/>
            <c:invertIfNegative val="0"/>
            <c:bubble3D val="0"/>
            <c:spPr>
              <a:solidFill>
                <a:srgbClr val="4D7E5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9D52-9449-85A4-258DCABE71E7}"/>
              </c:ext>
            </c:extLst>
          </c:dPt>
          <c:dPt>
            <c:idx val="10"/>
            <c:invertIfNegative val="0"/>
            <c:bubble3D val="0"/>
            <c:spPr>
              <a:solidFill>
                <a:srgbClr val="45785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9D52-9449-85A4-258DCABE71E7}"/>
              </c:ext>
            </c:extLst>
          </c:dPt>
          <c:dPt>
            <c:idx val="11"/>
            <c:invertIfNegative val="0"/>
            <c:bubble3D val="0"/>
            <c:spPr>
              <a:solidFill>
                <a:srgbClr val="3D724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9D52-9449-85A4-258DCABE71E7}"/>
              </c:ext>
            </c:extLst>
          </c:dPt>
          <c:dPt>
            <c:idx val="12"/>
            <c:invertIfNegative val="0"/>
            <c:bubble3D val="0"/>
            <c:spPr>
              <a:solidFill>
                <a:srgbClr val="356C4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9D52-9449-85A4-258DCABE71E7}"/>
              </c:ext>
            </c:extLst>
          </c:dPt>
          <c:dPt>
            <c:idx val="13"/>
            <c:invertIfNegative val="0"/>
            <c:bubble3D val="0"/>
            <c:spPr>
              <a:solidFill>
                <a:srgbClr val="2D674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B-9D52-9449-85A4-258DCABE71E7}"/>
              </c:ext>
            </c:extLst>
          </c:dPt>
          <c:dPt>
            <c:idx val="14"/>
            <c:invertIfNegative val="0"/>
            <c:bubble3D val="0"/>
            <c:spPr>
              <a:solidFill>
                <a:srgbClr val="1B3D2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D-9D52-9449-85A4-258DCABE71E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1A2816"/>
                    </a:solidFill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Organic Milk Reduced Fat, 2% Milkfat</c:v>
                </c:pt>
                <c:pt idx="1">
                  <c:v>Organic Reduced Fat Omega-3 Milk</c:v>
                </c:pt>
                <c:pt idx="2">
                  <c:v>Alkalized Water</c:v>
                </c:pt>
                <c:pt idx="3">
                  <c:v>Lowfat Goat Milk</c:v>
                </c:pt>
                <c:pt idx="4">
                  <c:v>Organic Lowfat 1% Milk</c:v>
                </c:pt>
                <c:pt idx="5">
                  <c:v>Organic Whole Milk</c:v>
                </c:pt>
                <c:pt idx="6">
                  <c:v>Banana</c:v>
                </c:pt>
                <c:pt idx="7">
                  <c:v>Goat Milk</c:v>
                </c:pt>
                <c:pt idx="8">
                  <c:v>Organic Reduced Fat Milk</c:v>
                </c:pt>
                <c:pt idx="9">
                  <c:v>Milk, Organic, Vitamin D</c:v>
                </c:pt>
                <c:pt idx="10">
                  <c:v>Ultra-Purified Water</c:v>
                </c:pt>
                <c:pt idx="11">
                  <c:v>Organic Homogenized Whole Milk</c:v>
                </c:pt>
                <c:pt idx="12">
                  <c:v>Organic Lactose Free Whole Milk</c:v>
                </c:pt>
                <c:pt idx="13">
                  <c:v>Whole Organic Omega 3 Milk</c:v>
                </c:pt>
                <c:pt idx="14">
                  <c:v>Half And Half Ultra Pasteurized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0.84</c:v>
                </c:pt>
                <c:pt idx="1">
                  <c:v>0.84</c:v>
                </c:pt>
                <c:pt idx="2">
                  <c:v>0.84</c:v>
                </c:pt>
                <c:pt idx="3">
                  <c:v>0.84</c:v>
                </c:pt>
                <c:pt idx="4">
                  <c:v>0.84</c:v>
                </c:pt>
                <c:pt idx="5">
                  <c:v>0.84</c:v>
                </c:pt>
                <c:pt idx="6">
                  <c:v>0.84</c:v>
                </c:pt>
                <c:pt idx="7">
                  <c:v>0.85</c:v>
                </c:pt>
                <c:pt idx="8">
                  <c:v>0.85</c:v>
                </c:pt>
                <c:pt idx="9">
                  <c:v>0.85</c:v>
                </c:pt>
                <c:pt idx="10">
                  <c:v>0.86</c:v>
                </c:pt>
                <c:pt idx="11">
                  <c:v>0.86</c:v>
                </c:pt>
                <c:pt idx="12">
                  <c:v>0.86</c:v>
                </c:pt>
                <c:pt idx="13">
                  <c:v>0.86</c:v>
                </c:pt>
                <c:pt idx="14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9D52-9449-85A4-258DCABE7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80">
                <a:solidFill>
                  <a:srgbClr val="1A2816"/>
                </a:solidFill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"/>
          <c:min val="0.8"/>
        </c:scaling>
        <c:delete val="0"/>
        <c:axPos val="b"/>
        <c:majorGridlines>
          <c:spPr>
            <a:ln w="6350">
              <a:solidFill>
                <a:srgbClr val="E0E4D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80">
                <a:solidFill>
                  <a:srgbClr val="888888"/>
                </a:solidFill>
              </a:defRPr>
            </a:pPr>
            <a:endParaRPr lang="de-DE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invertIfNegative val="1"/>
          <c:dPt>
            <c:idx val="0"/>
            <c:invertIfNegative val="0"/>
            <c:bubble3D val="0"/>
            <c:spPr>
              <a:solidFill>
                <a:srgbClr val="96B3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196-A54B-A60E-673F0F0847FD}"/>
              </c:ext>
            </c:extLst>
          </c:dPt>
          <c:dPt>
            <c:idx val="1"/>
            <c:invertIfNegative val="0"/>
            <c:bubble3D val="0"/>
            <c:spPr>
              <a:solidFill>
                <a:srgbClr val="8BAB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196-A54B-A60E-673F0F0847FD}"/>
              </c:ext>
            </c:extLst>
          </c:dPt>
          <c:dPt>
            <c:idx val="2"/>
            <c:invertIfNegative val="0"/>
            <c:bubble3D val="0"/>
            <c:spPr>
              <a:solidFill>
                <a:srgbClr val="81A38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196-A54B-A60E-673F0F0847FD}"/>
              </c:ext>
            </c:extLst>
          </c:dPt>
          <c:dPt>
            <c:idx val="3"/>
            <c:invertIfNegative val="0"/>
            <c:bubble3D val="0"/>
            <c:spPr>
              <a:solidFill>
                <a:srgbClr val="769C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196-A54B-A60E-673F0F0847FD}"/>
              </c:ext>
            </c:extLst>
          </c:dPt>
          <c:dPt>
            <c:idx val="4"/>
            <c:invertIfNegative val="0"/>
            <c:bubble3D val="0"/>
            <c:spPr>
              <a:solidFill>
                <a:srgbClr val="6C947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B196-A54B-A60E-673F0F0847FD}"/>
              </c:ext>
            </c:extLst>
          </c:dPt>
          <c:dPt>
            <c:idx val="5"/>
            <c:invertIfNegative val="0"/>
            <c:bubble3D val="0"/>
            <c:spPr>
              <a:solidFill>
                <a:srgbClr val="618D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B196-A54B-A60E-673F0F0847FD}"/>
              </c:ext>
            </c:extLst>
          </c:dPt>
          <c:dPt>
            <c:idx val="6"/>
            <c:invertIfNegative val="0"/>
            <c:bubble3D val="0"/>
            <c:spPr>
              <a:solidFill>
                <a:srgbClr val="57856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B196-A54B-A60E-673F0F0847FD}"/>
              </c:ext>
            </c:extLst>
          </c:dPt>
          <c:dPt>
            <c:idx val="7"/>
            <c:invertIfNegative val="0"/>
            <c:bubble3D val="0"/>
            <c:spPr>
              <a:solidFill>
                <a:srgbClr val="4C7D5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B196-A54B-A60E-673F0F0847FD}"/>
              </c:ext>
            </c:extLst>
          </c:dPt>
          <c:dPt>
            <c:idx val="8"/>
            <c:invertIfNegative val="0"/>
            <c:bubble3D val="0"/>
            <c:spPr>
              <a:solidFill>
                <a:srgbClr val="42765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B196-A54B-A60E-673F0F0847FD}"/>
              </c:ext>
            </c:extLst>
          </c:dPt>
          <c:dPt>
            <c:idx val="9"/>
            <c:invertIfNegative val="0"/>
            <c:bubble3D val="0"/>
            <c:spPr>
              <a:solidFill>
                <a:srgbClr val="376E4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B196-A54B-A60E-673F0F0847FD}"/>
              </c:ext>
            </c:extLst>
          </c:dPt>
          <c:dPt>
            <c:idx val="10"/>
            <c:invertIfNegative val="0"/>
            <c:bubble3D val="0"/>
            <c:spPr>
              <a:solidFill>
                <a:srgbClr val="2D674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B196-A54B-A60E-673F0F0847FD}"/>
              </c:ext>
            </c:extLst>
          </c:dPt>
          <c:dPt>
            <c:idx val="11"/>
            <c:invertIfNegative val="0"/>
            <c:bubble3D val="0"/>
            <c:spPr>
              <a:solidFill>
                <a:srgbClr val="1B3D2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7-B196-A54B-A60E-673F0F0847F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1A2816"/>
                    </a:solidFill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Maple &amp; Pecan Granola Gluten...</c:v>
                </c:pt>
                <c:pt idx="1">
                  <c:v>Breadstick</c:v>
                </c:pt>
                <c:pt idx="2">
                  <c:v>Organic Wraps Traditional - ...</c:v>
                </c:pt>
                <c:pt idx="3">
                  <c:v>Chocolate Crepes</c:v>
                </c:pt>
                <c:pt idx="4">
                  <c:v>Low Salt Ham</c:v>
                </c:pt>
                <c:pt idx="5">
                  <c:v>Select Tender Chicken with V...</c:v>
                </c:pt>
                <c:pt idx="6">
                  <c:v>Organic Spelt Tortillas</c:v>
                </c:pt>
                <c:pt idx="7">
                  <c:v>Double Fiber Bread</c:v>
                </c:pt>
                <c:pt idx="8">
                  <c:v>Organic Nine Grain</c:v>
                </c:pt>
                <c:pt idx="9">
                  <c:v>Organic Honey Sweet Whole Wh...</c:v>
                </c:pt>
                <c:pt idx="10">
                  <c:v>Maple Honey Ham</c:v>
                </c:pt>
                <c:pt idx="11">
                  <c:v>Wheat Sandwich Bread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0.78</c:v>
                </c:pt>
                <c:pt idx="1">
                  <c:v>0.79</c:v>
                </c:pt>
                <c:pt idx="2">
                  <c:v>0.79</c:v>
                </c:pt>
                <c:pt idx="3">
                  <c:v>0.79</c:v>
                </c:pt>
                <c:pt idx="4">
                  <c:v>0.79</c:v>
                </c:pt>
                <c:pt idx="5">
                  <c:v>0.79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0.81</c:v>
                </c:pt>
                <c:pt idx="11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196-A54B-A60E-673F0F0847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1A2816"/>
                </a:solidFill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7"/>
          <c:min val="0.74"/>
        </c:scaling>
        <c:delete val="0"/>
        <c:axPos val="b"/>
        <c:majorGridlines>
          <c:spPr>
            <a:ln w="6350">
              <a:solidFill>
                <a:srgbClr val="E0E4D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888888"/>
                </a:solidFill>
              </a:defRPr>
            </a:pPr>
            <a:endParaRPr lang="de-DE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u="none">
                <a:solidFill>
                  <a:srgbClr val="9BBFA4"/>
                </a:solidFill>
                <a:latin typeface="Calibri"/>
              </a:rPr>
              <a:t>ZHAW  ·  VISUALISATION &amp; DATA SCIENCE STORYTELLING II  ·  FS 2025/26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Georgia"/>
              </a:rPr>
              <a:t>Optimising Product Placement</a:t>
            </a:r>
          </a:p>
          <a:p>
            <a:pPr algn="l"/>
            <a:r>
              <a:rPr sz="2400" b="1" i="0" u="none">
                <a:solidFill>
                  <a:srgbClr val="FFFFFF"/>
                </a:solidFill>
                <a:latin typeface="Georgia"/>
              </a:rPr>
              <a:t>Using Grocery Purchase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C0D8C0"/>
                </a:solidFill>
                <a:latin typeface="Calibri"/>
              </a:rPr>
              <a:t>Turning 3.2 million Instacart orders into assortment,
cross-sell and retention decisions for grocery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777240" cy="41148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4564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C0D8C0"/>
                </a:solidFill>
                <a:latin typeface="Calibri"/>
              </a:rPr>
              <a:t>Lara Pestrin  ·  Jonathan Kull  ·  Veprim Mehmeti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50608" y="548640"/>
            <a:ext cx="640080" cy="7315"/>
          </a:xfrm>
          <a:prstGeom prst="rect">
            <a:avLst/>
          </a:prstGeom>
          <a:solidFill>
            <a:srgbClr val="6B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0" y="1261872"/>
            <a:ext cx="7315" cy="402336"/>
          </a:xfrm>
          <a:prstGeom prst="rect">
            <a:avLst/>
          </a:prstGeom>
          <a:solidFill>
            <a:srgbClr val="6B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883664"/>
            <a:ext cx="758952" cy="7315"/>
          </a:xfrm>
          <a:prstGeom prst="rect">
            <a:avLst/>
          </a:prstGeom>
          <a:solidFill>
            <a:srgbClr val="6B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585216"/>
            <a:ext cx="7315" cy="676656"/>
          </a:xfrm>
          <a:prstGeom prst="rect">
            <a:avLst/>
          </a:prstGeom>
          <a:solidFill>
            <a:srgbClr val="6B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80" y="301752"/>
            <a:ext cx="566928" cy="566928"/>
          </a:xfrm>
          <a:prstGeom prst="ellipse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0" y="594360"/>
            <a:ext cx="457200" cy="457200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58200" y="256032"/>
            <a:ext cx="347472" cy="347472"/>
          </a:xfrm>
          <a:prstGeom prst="ellipse">
            <a:avLst/>
          </a:prstGeom>
          <a:solidFill>
            <a:srgbClr val="C94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178040" y="1078992"/>
            <a:ext cx="402336" cy="402336"/>
          </a:xfrm>
          <a:prstGeom prst="ellipse">
            <a:avLst/>
          </a:prstGeom>
          <a:solidFill>
            <a:srgbClr val="E0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39327" y="1243584"/>
            <a:ext cx="310896" cy="310896"/>
          </a:xfrm>
          <a:prstGeom prst="ellipse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10528" y="1737360"/>
            <a:ext cx="329184" cy="329184"/>
          </a:xfrm>
          <a:prstGeom prst="ellipse">
            <a:avLst/>
          </a:prstGeom>
          <a:solidFill>
            <a:srgbClr val="5B6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36992" y="1627632"/>
            <a:ext cx="475488" cy="475488"/>
          </a:xfrm>
          <a:prstGeom prst="ellipse">
            <a:avLst/>
          </a:prstGeom>
          <a:solidFill>
            <a:srgbClr val="C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05088" y="2130552"/>
            <a:ext cx="256032" cy="256032"/>
          </a:xfrm>
          <a:prstGeom prst="ellipse">
            <a:avLst/>
          </a:prstGeom>
          <a:solidFill>
            <a:srgbClr val="4A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31152" y="2331720"/>
            <a:ext cx="292608" cy="292608"/>
          </a:xfrm>
          <a:prstGeom prst="ellipse">
            <a:avLst/>
          </a:prstGeom>
          <a:solidFill>
            <a:srgbClr val="9B7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07808" y="2487168"/>
            <a:ext cx="228600" cy="22860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Grocery delivery lives or dies
by its assortment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 u="none">
                <a:solidFill>
                  <a:srgbClr val="2D6741"/>
                </a:solidFill>
                <a:latin typeface="Georgia"/>
              </a:rPr>
              <a:t>Thousands of products.</a:t>
            </a:r>
          </a:p>
          <a:p>
            <a:pPr algn="l">
              <a:spcAft>
                <a:spcPts val="300"/>
              </a:spcAft>
            </a:pPr>
            <a:r>
              <a:rPr sz="2200" b="0" i="0" u="none">
                <a:solidFill>
                  <a:srgbClr val="2D6741"/>
                </a:solidFill>
                <a:latin typeface="Georgia"/>
              </a:rPr>
              <a:t>Weekly stocking decisions.</a:t>
            </a:r>
          </a:p>
          <a:p>
            <a:pPr algn="l"/>
            <a:r>
              <a:rPr sz="2200" b="0" i="0" u="none">
                <a:solidFill>
                  <a:srgbClr val="2D6741"/>
                </a:solidFill>
                <a:latin typeface="Georgia"/>
              </a:rPr>
              <a:t>Today — mostly intuition.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01168"/>
            <a:ext cx="4160520" cy="4754880"/>
          </a:xfrm>
          <a:prstGeom prst="rect">
            <a:avLst/>
          </a:prstGeom>
          <a:solidFill>
            <a:srgbClr val="EEF0EB"/>
          </a:solidFill>
          <a:ln w="9525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0" y="4389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u="none">
                <a:solidFill>
                  <a:srgbClr val="C45C18"/>
                </a:solidFill>
                <a:latin typeface="Calibri"/>
              </a:rPr>
              <a:t>THE QUESTIONS WE SET OUT TO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86868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u="none">
                <a:solidFill>
                  <a:srgbClr val="C45C18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9326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u="none">
                <a:solidFill>
                  <a:srgbClr val="1A2816"/>
                </a:solidFill>
                <a:latin typeface="Calibri"/>
              </a:rPr>
              <a:t>Which products are purchased most frequently?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7276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u="none">
                <a:solidFill>
                  <a:srgbClr val="C45C18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3677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u="none">
                <a:solidFill>
                  <a:srgbClr val="1A2816"/>
                </a:solidFill>
                <a:latin typeface="Calibri"/>
              </a:rPr>
              <a:t>Which products are commonly bought together?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76856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u="none">
                <a:solidFill>
                  <a:srgbClr val="C45C18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4086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u="none">
                <a:solidFill>
                  <a:srgbClr val="1A2816"/>
                </a:solidFill>
                <a:latin typeface="Calibri"/>
              </a:rPr>
              <a:t>Which products earn the highest customer loyalty?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80944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u="none">
                <a:solidFill>
                  <a:srgbClr val="C45C18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44951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u="none">
                <a:solidFill>
                  <a:srgbClr val="1A2816"/>
                </a:solidFill>
                <a:latin typeface="Calibri"/>
              </a:rPr>
              <a:t>When — by day and hour — are orders placed?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68503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u="none">
                <a:solidFill>
                  <a:srgbClr val="C45C18"/>
                </a:solidFill>
                <a:latin typeface="Georg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749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u="none">
                <a:solidFill>
                  <a:srgbClr val="1A2816"/>
                </a:solidFill>
                <a:latin typeface="Calibri"/>
              </a:rPr>
              <a:t>What does this mean for assortment and retention?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Built on 3.2 million real grocery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1993392" cy="1536192"/>
          </a:xfrm>
          <a:prstGeom prst="rect">
            <a:avLst/>
          </a:prstGeom>
          <a:solidFill>
            <a:srgbClr val="1B3D27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64208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u="none">
                <a:solidFill>
                  <a:srgbClr val="FFFFFF"/>
                </a:solidFill>
                <a:latin typeface="Georgia"/>
              </a:rPr>
              <a:t>3.2M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23744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C0D8C0"/>
                </a:solidFill>
                <a:latin typeface="Calibri"/>
              </a:rPr>
              <a:t>Orders analysed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8608" y="1463040"/>
            <a:ext cx="1993392" cy="1536192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70048" y="1664208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u="none">
                <a:solidFill>
                  <a:srgbClr val="2D6741"/>
                </a:solidFill>
                <a:latin typeface="Georgia"/>
              </a:rPr>
              <a:t>206K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523744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888888"/>
                </a:solidFill>
                <a:latin typeface="Calibri"/>
              </a:rPr>
              <a:t>Unique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5736" y="1463040"/>
            <a:ext cx="1993392" cy="1536192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37176" y="1664208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u="none">
                <a:solidFill>
                  <a:srgbClr val="2D6741"/>
                </a:solidFill>
                <a:latin typeface="Georgia"/>
              </a:rPr>
              <a:t>49.7K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2523744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888888"/>
                </a:solidFill>
                <a:latin typeface="Calibri"/>
              </a:rPr>
              <a:t>Unique products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2864" y="1463040"/>
            <a:ext cx="1993392" cy="1536192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4304" y="1664208"/>
            <a:ext cx="18105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u="none">
                <a:solidFill>
                  <a:srgbClr val="2D6741"/>
                </a:solidFill>
                <a:latin typeface="Georgia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4304" y="2523744"/>
            <a:ext cx="1810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u="none">
                <a:solidFill>
                  <a:srgbClr val="888888"/>
                </a:solidFill>
                <a:latin typeface="Calibri"/>
              </a:rPr>
              <a:t>Departments, 134 aisles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649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u="none">
                <a:solidFill>
                  <a:srgbClr val="1A2816"/>
                </a:solidFill>
                <a:latin typeface="Georgia"/>
              </a:rPr>
              <a:t>The public Instacart 2017 dataset — six linked tables, fully anonymised.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Two people make these calls every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36192"/>
            <a:ext cx="4114800" cy="3657600"/>
          </a:xfrm>
          <a:prstGeom prst="rect">
            <a:avLst/>
          </a:prstGeom>
          <a:solidFill>
            <a:srgbClr val="EEF0EB"/>
          </a:solidFill>
          <a:ln w="9525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536192"/>
            <a:ext cx="4114800" cy="82296"/>
          </a:xfrm>
          <a:prstGeom prst="rect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19" y="173736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 u="none">
                <a:solidFill>
                  <a:srgbClr val="1A2816"/>
                </a:solidFill>
                <a:latin typeface="Georgia"/>
              </a:rPr>
              <a:t>Sandra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14884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2D6741"/>
                </a:solidFill>
                <a:latin typeface="Calibri"/>
              </a:rPr>
              <a:t>ASSORTMENT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87752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u="none">
                <a:solidFill>
                  <a:srgbClr val="888888"/>
                </a:solidFill>
                <a:latin typeface="Calibri"/>
              </a:rPr>
              <a:t>34  ·  Business Administration  ·  5 years in grocery retail  ·  no coding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89504"/>
            <a:ext cx="3712463" cy="6400"/>
          </a:xfrm>
          <a:prstGeom prst="rect">
            <a:avLst/>
          </a:prstGeom>
          <a:solidFill>
            <a:srgbClr val="D5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999232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2D6741"/>
                </a:solidFill>
                <a:latin typeface="Calibri"/>
              </a:rPr>
              <a:t>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3697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A fast visual overview of what sells — and what sells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0390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2D6741"/>
                </a:solidFill>
                <a:latin typeface="Calibri"/>
              </a:rPr>
              <a:t>PAIN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04164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Slow, manual reports; co-purchase patterns are invisible.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8" y="1536192"/>
            <a:ext cx="4114800" cy="3657600"/>
          </a:xfrm>
          <a:prstGeom prst="rect">
            <a:avLst/>
          </a:prstGeom>
          <a:solidFill>
            <a:srgbClr val="EEF0EB"/>
          </a:solidFill>
          <a:ln w="9525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73168" y="1536192"/>
            <a:ext cx="4114800" cy="82296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700784"/>
            <a:ext cx="73152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24727" y="173736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 u="none">
                <a:solidFill>
                  <a:srgbClr val="1A2816"/>
                </a:solidFill>
                <a:latin typeface="Georgia"/>
              </a:rPr>
              <a:t>Marco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7" y="214884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2587752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u="none">
                <a:solidFill>
                  <a:srgbClr val="888888"/>
                </a:solidFill>
                <a:latin typeface="Calibri"/>
              </a:rPr>
              <a:t>28  ·  Retail Management  ·  2 years in e-commerce grocery  ·  no coding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4336" y="2889504"/>
            <a:ext cx="3712463" cy="6400"/>
          </a:xfrm>
          <a:prstGeom prst="rect">
            <a:avLst/>
          </a:prstGeom>
          <a:solidFill>
            <a:srgbClr val="D5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74336" y="2999232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NEEDS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323697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Evidence for listing, delisting and supplier negotiations.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3803904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PAIN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404164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Decisions lean on gut feel; loyal niche products stay hidden.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46888"/>
            <a:ext cx="1097280" cy="32004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9BBFA4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Georgia"/>
              </a:rPr>
              <a:t>An interactive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3385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u="none">
                <a:solidFill>
                  <a:srgbClr val="C0D8C0"/>
                </a:solidFill>
                <a:latin typeface="Calibri"/>
              </a:rPr>
              <a:t>Built for exploration, not static reporting.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2743200" cy="2852928"/>
          </a:xfrm>
          <a:prstGeom prst="rect">
            <a:avLst/>
          </a:prstGeom>
          <a:solidFill>
            <a:srgbClr val="224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1907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rgbClr val="2D6741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12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Georgia"/>
              </a:rPr>
              <a:t>KPI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3464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Orders, customers, products</a:t>
            </a:r>
          </a:p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Reorder rate &amp; peak hour</a:t>
            </a:r>
          </a:p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Top department by 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536192"/>
            <a:ext cx="2743200" cy="2852928"/>
          </a:xfrm>
          <a:prstGeom prst="rect">
            <a:avLst/>
          </a:prstGeom>
          <a:solidFill>
            <a:srgbClr val="224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rgbClr val="C45C18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12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Georgia"/>
              </a:rPr>
              <a:t>Product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Top sellers by purchase count</a:t>
            </a:r>
          </a:p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Department sales breakdown</a:t>
            </a:r>
          </a:p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Aisles bought together
(pairs, heatmap, network)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36192"/>
            <a:ext cx="2743200" cy="2852928"/>
          </a:xfrm>
          <a:prstGeom prst="rect">
            <a:avLst/>
          </a:prstGeom>
          <a:solidFill>
            <a:srgbClr val="224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71907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rgbClr val="5B7CA8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12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Georgia"/>
              </a:rPr>
              <a:t>Customer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83464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Reorder rate by product</a:t>
            </a:r>
          </a:p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Hidden gems — loyal niches</a:t>
            </a:r>
          </a:p>
          <a:p>
            <a:pPr algn="l">
              <a:spcAft>
                <a:spcPts val="300"/>
              </a:spcAft>
            </a:pPr>
            <a:r>
              <a:rPr sz="1000" b="0" i="0" u="none">
                <a:solidFill>
                  <a:srgbClr val="C0D8C0"/>
                </a:solidFill>
                <a:latin typeface="Calibri"/>
              </a:rPr>
              <a:t>•  Shopping-time heatmap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u="none">
                <a:solidFill>
                  <a:srgbClr val="C45C18"/>
                </a:solidFill>
                <a:latin typeface="Calibri"/>
              </a:rPr>
              <a:t>Run it locally:  uv run streamlit run deployment/app.py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RESULT 01  ·  PRODUCT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Fresh produce owns the top of the basket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463040"/>
          <a:ext cx="594360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492240" y="2011680"/>
            <a:ext cx="2423160" cy="141732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92240" y="2011680"/>
            <a:ext cx="54864" cy="1417320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56832" y="21214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37744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816"/>
                </a:solidFill>
                <a:latin typeface="Georgia"/>
              </a:rPr>
              <a:t>Every one of the top 15 products is fresh fruit or vegetables.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RESULT 02  ·  PRODUCT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Produce drives almost a third of all volume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463040"/>
          <a:ext cx="594360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492240" y="2011680"/>
            <a:ext cx="2423160" cy="141732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92240" y="2011680"/>
            <a:ext cx="54864" cy="1417320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56832" y="21214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37744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816"/>
                </a:solidFill>
                <a:latin typeface="Georgia"/>
              </a:rPr>
              <a:t>Produce and Dairy &amp; Eggs dwarf every other department.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RESULT 03  ·  PRODUCT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Co-purchase analysis reveals natural baskets</a:t>
            </a:r>
          </a:p>
        </p:txBody>
      </p:sp>
      <p:sp>
        <p:nvSpPr>
          <p:cNvPr id="4" name="Oval 3"/>
          <p:cNvSpPr/>
          <p:nvPr/>
        </p:nvSpPr>
        <p:spPr>
          <a:xfrm>
            <a:off x="4306824" y="2478024"/>
            <a:ext cx="164592" cy="164592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730752" y="2816352"/>
            <a:ext cx="219456" cy="219456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709159" y="2880360"/>
            <a:ext cx="274320" cy="274320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032503" y="3209544"/>
            <a:ext cx="347472" cy="347472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52544" y="3529583"/>
            <a:ext cx="438912" cy="438912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28616" y="3191256"/>
            <a:ext cx="201168" cy="201168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03904" y="3803904"/>
            <a:ext cx="256032" cy="256032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4114800"/>
            <a:ext cx="182880" cy="182880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29100" y="4320540"/>
            <a:ext cx="320040" cy="320040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52059" y="2766060"/>
            <a:ext cx="137160" cy="137160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38728" y="3447288"/>
            <a:ext cx="237744" cy="237744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157216" y="3694176"/>
            <a:ext cx="292608" cy="292608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18104" y="3026664"/>
            <a:ext cx="164592" cy="164592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33472" y="3364991"/>
            <a:ext cx="219456" cy="219456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337560" y="3703320"/>
            <a:ext cx="274320" cy="274320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52344" y="4032503"/>
            <a:ext cx="347472" cy="347472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49424" y="3529583"/>
            <a:ext cx="438912" cy="438912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48456" y="4288536"/>
            <a:ext cx="201168" cy="201168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163824" y="2615184"/>
            <a:ext cx="256032" cy="256032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68879" y="3017520"/>
            <a:ext cx="182880" cy="182880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857500" y="2308860"/>
            <a:ext cx="320040" cy="320040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954780" y="3589020"/>
            <a:ext cx="137160" cy="137160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47288" y="4453128"/>
            <a:ext cx="237744" cy="237744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139696" y="4242816"/>
            <a:ext cx="292608" cy="292608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32504" y="1929384"/>
            <a:ext cx="164592" cy="164592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64991" y="2084831"/>
            <a:ext cx="219456" cy="219456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26279" y="1965960"/>
            <a:ext cx="274320" cy="274320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66744" y="1746504"/>
            <a:ext cx="347472" cy="347472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809744" y="1700784"/>
            <a:ext cx="438912" cy="438912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099816" y="1819656"/>
            <a:ext cx="201168" cy="201168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261104" y="1700784"/>
            <a:ext cx="256032" cy="256032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834640" y="1920240"/>
            <a:ext cx="182880" cy="182880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594860" y="2308860"/>
            <a:ext cx="320040" cy="320040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583179" y="2217420"/>
            <a:ext cx="137160" cy="137160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538728" y="1709928"/>
            <a:ext cx="237744" cy="237744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157216" y="1865376"/>
            <a:ext cx="292608" cy="292608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34840" y="3520440"/>
            <a:ext cx="658368" cy="201168"/>
          </a:xfrm>
          <a:prstGeom prst="rect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71416" y="352958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Cluster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3794760"/>
            <a:ext cx="658368" cy="201168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45536" y="380390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Cluster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2194560"/>
            <a:ext cx="658368" cy="201168"/>
          </a:xfrm>
          <a:prstGeom prst="rect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51376" y="2203703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Calibri"/>
              </a:rPr>
              <a:t>Cluster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417320"/>
            <a:ext cx="2560320" cy="338328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155448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WHAT WE FOUND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1801368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816"/>
                </a:solidFill>
                <a:latin typeface="Georgia"/>
              </a:rPr>
              <a:t>Co-purchase patterns fall into three natural baskets.</a:t>
            </a:r>
          </a:p>
        </p:txBody>
      </p:sp>
      <p:sp>
        <p:nvSpPr>
          <p:cNvPr id="49" name="Oval 48"/>
          <p:cNvSpPr/>
          <p:nvPr/>
        </p:nvSpPr>
        <p:spPr>
          <a:xfrm>
            <a:off x="6565392" y="2587751"/>
            <a:ext cx="164592" cy="164592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21424" y="2560320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1A2816"/>
                </a:solidFill>
                <a:latin typeface="Georgia"/>
              </a:rPr>
              <a:t>Fresh vegetables &amp; aromatics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1424" y="2807208"/>
            <a:ext cx="20848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u="none">
                <a:solidFill>
                  <a:srgbClr val="888888"/>
                </a:solidFill>
                <a:latin typeface="Calibri"/>
              </a:rPr>
              <a:t>spinach, avocado, onion, garlic, lemon</a:t>
            </a:r>
          </a:p>
        </p:txBody>
      </p:sp>
      <p:sp>
        <p:nvSpPr>
          <p:cNvPr id="52" name="Oval 51"/>
          <p:cNvSpPr/>
          <p:nvPr/>
        </p:nvSpPr>
        <p:spPr>
          <a:xfrm>
            <a:off x="6565392" y="3300984"/>
            <a:ext cx="164592" cy="164592"/>
          </a:xfrm>
          <a:prstGeom prst="ellipse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21424" y="3273552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1A2816"/>
                </a:solidFill>
                <a:latin typeface="Georgia"/>
              </a:rPr>
              <a:t>Everyday fruit &amp; milk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21424" y="3520440"/>
            <a:ext cx="20848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u="none">
                <a:solidFill>
                  <a:srgbClr val="888888"/>
                </a:solidFill>
                <a:latin typeface="Calibri"/>
              </a:rPr>
              <a:t>banana, berries, apples, whole milk</a:t>
            </a:r>
          </a:p>
        </p:txBody>
      </p:sp>
      <p:sp>
        <p:nvSpPr>
          <p:cNvPr id="55" name="Oval 54"/>
          <p:cNvSpPr/>
          <p:nvPr/>
        </p:nvSpPr>
        <p:spPr>
          <a:xfrm>
            <a:off x="6565392" y="4014216"/>
            <a:ext cx="164592" cy="164592"/>
          </a:xfrm>
          <a:prstGeom prst="ellipse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21424" y="3986784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1A2816"/>
                </a:solidFill>
                <a:latin typeface="Georgia"/>
              </a:rPr>
              <a:t>The organic basket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1424" y="4233672"/>
            <a:ext cx="20848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u="none">
                <a:solidFill>
                  <a:srgbClr val="888888"/>
                </a:solidFill>
                <a:latin typeface="Calibri"/>
              </a:rPr>
              <a:t>organic bananas, berries, almond milk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RESULT 04  ·  CUSTOMER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Customer loyalty is built on milk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70432"/>
          <a:ext cx="59436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492240" y="2011680"/>
            <a:ext cx="2423160" cy="141732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92240" y="2011680"/>
            <a:ext cx="54864" cy="1417320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56832" y="21214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37744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816"/>
                </a:solidFill>
                <a:latin typeface="Georgia"/>
              </a:rPr>
              <a:t>Loyalty runs on milk and water — 84 to 86% reorder.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RESULT 05  ·  CUSTOMER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Hidden gems: small categories, loyal fans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463040"/>
          <a:ext cx="594360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492240" y="2011680"/>
            <a:ext cx="2423160" cy="141732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92240" y="2011680"/>
            <a:ext cx="54864" cy="1417320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56832" y="2121408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237744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u="none">
                <a:solidFill>
                  <a:srgbClr val="1A2816"/>
                </a:solidFill>
                <a:latin typeface="Georgia"/>
              </a:rPr>
              <a:t>Niche breads and deli items keep 78 to 83% of their buyers.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RESULT 06  ·  CUSTOMER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Sunday and Monday mornings carry the week</a:t>
            </a:r>
          </a:p>
        </p:txBody>
      </p:sp>
      <p:pic>
        <p:nvPicPr>
          <p:cNvPr id="4" name="Picture 3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84124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32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1A2816"/>
                </a:solidFill>
                <a:latin typeface="Calibri"/>
              </a:rPr>
              <a:t>Orders cluster on Sunday and Monday, roughly 9:00 to 16:00 — and fall away sharply outside daytime 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C45C18"/>
                </a:solidFill>
                <a:latin typeface="Calibri"/>
              </a:rPr>
              <a:t>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0624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 u="none">
                <a:solidFill>
                  <a:srgbClr val="1A2816"/>
                </a:solidFill>
                <a:latin typeface="Georgia"/>
              </a:rPr>
              <a:t>From data to assortment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70432"/>
            <a:ext cx="2029968" cy="73152"/>
          </a:xfrm>
          <a:prstGeom prst="rect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2029968" cy="329184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3167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rgbClr val="2D6741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1A2816"/>
                </a:solidFill>
                <a:latin typeface="Georgia"/>
              </a:rPr>
              <a:t>Build on 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2450591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Produce and organic are the 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2D6741"/>
                </a:solidFill>
                <a:latin typeface="Calibri"/>
              </a:rPr>
              <a:t>FOR SANDRA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3744" y="1170432"/>
            <a:ext cx="2029968" cy="73152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23744" y="1243584"/>
            <a:ext cx="2029968" cy="329184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0048" y="13167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rgbClr val="C45C18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1A2816"/>
                </a:solidFill>
                <a:latin typeface="Georgia"/>
              </a:rPr>
              <a:t>Bundle the clusters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450591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Group and cross-sell what sells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C45C18"/>
                </a:solidFill>
                <a:latin typeface="Calibri"/>
              </a:rPr>
              <a:t>FOR MARCO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016" y="1170432"/>
            <a:ext cx="2029968" cy="73152"/>
          </a:xfrm>
          <a:prstGeom prst="rect">
            <a:avLst/>
          </a:prstGeom>
          <a:solidFill>
            <a:srgbClr val="5B7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0016" y="1243584"/>
            <a:ext cx="2029968" cy="329184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3167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rgbClr val="5B7CA8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1A2816"/>
                </a:solidFill>
                <a:latin typeface="Georgia"/>
              </a:rPr>
              <a:t>Subscribe the staples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450591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Milk and water — auto-reorder offers.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5B7CA8"/>
                </a:solidFill>
                <a:latin typeface="Calibri"/>
              </a:rPr>
              <a:t>FOR SANDRA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1170432"/>
            <a:ext cx="2029968" cy="73152"/>
          </a:xfrm>
          <a:prstGeom prst="rect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76288" y="1243584"/>
            <a:ext cx="2029968" cy="3291840"/>
          </a:xfrm>
          <a:prstGeom prst="rect">
            <a:avLst/>
          </a:prstGeom>
          <a:solidFill>
            <a:srgbClr val="EEF0EB"/>
          </a:solidFill>
          <a:ln w="6350">
            <a:solidFill>
              <a:srgbClr val="D5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22592" y="13167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u="none">
                <a:solidFill>
                  <a:srgbClr val="2D6741"/>
                </a:solidFill>
                <a:latin typeface="Georgi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1A2816"/>
                </a:solidFill>
                <a:latin typeface="Georgia"/>
              </a:rPr>
              <a:t>Protect the gems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450591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u="none">
                <a:solidFill>
                  <a:srgbClr val="1A2816"/>
                </a:solidFill>
                <a:latin typeface="Calibri"/>
              </a:rPr>
              <a:t>Keep loyal niche products on the shelf.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u="none">
                <a:solidFill>
                  <a:srgbClr val="2D6741"/>
                </a:solidFill>
                <a:latin typeface="Calibri"/>
              </a:rPr>
              <a:t>FOR MARCO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u="none">
                <a:solidFill>
                  <a:srgbClr val="999999"/>
                </a:solidFill>
                <a:latin typeface="Calibri"/>
              </a:rPr>
              <a:t>Grocery Product Placement Analysis  ·  Group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864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 u="none">
                <a:solidFill>
                  <a:srgbClr val="999999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42048" y="548640"/>
            <a:ext cx="621792" cy="7315"/>
          </a:xfrm>
          <a:prstGeom prst="rect">
            <a:avLst/>
          </a:prstGeom>
          <a:solidFill>
            <a:srgbClr val="6B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88352" y="1261872"/>
            <a:ext cx="7315" cy="438912"/>
          </a:xfrm>
          <a:prstGeom prst="rect">
            <a:avLst/>
          </a:prstGeom>
          <a:solidFill>
            <a:srgbClr val="6B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85632" y="557784"/>
            <a:ext cx="7315" cy="722376"/>
          </a:xfrm>
          <a:prstGeom prst="rect">
            <a:avLst/>
          </a:prstGeom>
          <a:solidFill>
            <a:srgbClr val="6B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48272" y="347472"/>
            <a:ext cx="493776" cy="493776"/>
          </a:xfrm>
          <a:prstGeom prst="ellipse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45552" y="621792"/>
            <a:ext cx="402336" cy="402336"/>
          </a:xfrm>
          <a:prstGeom prst="ellipse">
            <a:avLst/>
          </a:prstGeom>
          <a:solidFill>
            <a:srgbClr val="2D6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85632" y="274320"/>
            <a:ext cx="301752" cy="301752"/>
          </a:xfrm>
          <a:prstGeom prst="ellipse">
            <a:avLst/>
          </a:prstGeom>
          <a:solidFill>
            <a:srgbClr val="C94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51192" y="1078992"/>
            <a:ext cx="365760" cy="365760"/>
          </a:xfrm>
          <a:prstGeom prst="ellipse">
            <a:avLst/>
          </a:prstGeom>
          <a:solidFill>
            <a:srgbClr val="E06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75904" y="1261872"/>
            <a:ext cx="274320" cy="274320"/>
          </a:xfrm>
          <a:prstGeom prst="ellipse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65392" y="1764792"/>
            <a:ext cx="301752" cy="301752"/>
          </a:xfrm>
          <a:prstGeom prst="ellipse">
            <a:avLst/>
          </a:prstGeom>
          <a:solidFill>
            <a:srgbClr val="5B6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010144" y="1673352"/>
            <a:ext cx="420624" cy="420624"/>
          </a:xfrm>
          <a:prstGeom prst="ellipse">
            <a:avLst/>
          </a:prstGeom>
          <a:solidFill>
            <a:srgbClr val="C8B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41664" y="2157984"/>
            <a:ext cx="237744" cy="237744"/>
          </a:xfrm>
          <a:prstGeom prst="ellipse">
            <a:avLst/>
          </a:prstGeom>
          <a:solidFill>
            <a:srgbClr val="4A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u="none">
                <a:solidFill>
                  <a:srgbClr val="9BBFA4"/>
                </a:solidFill>
                <a:latin typeface="Calibri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13232"/>
            <a:ext cx="6583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Georgia"/>
              </a:rPr>
              <a:t>Three million orders,</a:t>
            </a:r>
          </a:p>
          <a:p>
            <a:pPr algn="l"/>
            <a:r>
              <a:rPr sz="3000" b="1" i="0" u="none">
                <a:solidFill>
                  <a:srgbClr val="FFFFFF"/>
                </a:solidFill>
                <a:latin typeface="Georgia"/>
              </a:rPr>
              <a:t>one clear shelf strategy.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u="none">
                <a:solidFill>
                  <a:srgbClr val="C0D8C0"/>
                </a:solidFill>
                <a:latin typeface="Calibri"/>
              </a:rPr>
              <a:t>Anonymised purchase data, turned into decisions Sandra and Marco
can act on — without writing a line of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777240" cy="41148"/>
          </a:xfrm>
          <a:prstGeom prst="rect">
            <a:avLst/>
          </a:prstGeom>
          <a:solidFill>
            <a:srgbClr val="C45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1821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u="none">
                <a:solidFill>
                  <a:srgbClr val="C45C18"/>
                </a:solidFill>
                <a:latin typeface="Calibri"/>
              </a:rPr>
              <a:t>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182112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u="none" dirty="0" err="1">
                <a:solidFill>
                  <a:srgbClr val="C0D8C0"/>
                </a:solidFill>
                <a:latin typeface="Calibri"/>
              </a:rPr>
              <a:t>github.com</a:t>
            </a:r>
            <a:r>
              <a:rPr sz="1100" b="0" i="0" u="none" dirty="0">
                <a:solidFill>
                  <a:srgbClr val="C0D8C0"/>
                </a:solidFill>
                <a:latin typeface="Calibri"/>
              </a:rPr>
              <a:t>/</a:t>
            </a:r>
            <a:r>
              <a:rPr lang="de-CH" sz="1100" dirty="0">
                <a:solidFill>
                  <a:srgbClr val="C0D8C0"/>
                </a:solidFill>
                <a:latin typeface="Calibri"/>
              </a:rPr>
              <a:t>podsv-fs26-ad24</a:t>
            </a:r>
            <a:r>
              <a:rPr sz="1100" b="0" i="0" u="none" dirty="0">
                <a:solidFill>
                  <a:srgbClr val="C0D8C0"/>
                </a:solidFill>
                <a:latin typeface="Calibri"/>
              </a:rPr>
              <a:t>/ad24-11-grocery-product-placement-analysis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u="none">
                <a:solidFill>
                  <a:srgbClr val="C45C18"/>
                </a:solidFill>
                <a:latin typeface="Calibri"/>
              </a:rPr>
              <a:t>Run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35112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>
                <a:solidFill>
                  <a:srgbClr val="C0D8C0"/>
                </a:solidFill>
                <a:latin typeface="Calibri"/>
              </a:rPr>
              <a:t>uv run streamlit run deployment/app.py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5029200" cy="7315"/>
          </a:xfrm>
          <a:prstGeom prst="rect">
            <a:avLst/>
          </a:prstGeom>
          <a:solidFill>
            <a:srgbClr val="4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u="none" dirty="0">
                <a:solidFill>
                  <a:srgbClr val="9BBFA4"/>
                </a:solidFill>
                <a:latin typeface="Calibri"/>
              </a:rPr>
              <a:t>Lara Pestrin  ·  Jonathan Kull  ·  Veprim Mehmeti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Macintosh PowerPoint</Application>
  <PresentationFormat>Bildschirmpräsentation (16:9)</PresentationFormat>
  <Paragraphs>149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Lara Cristina Pestrin</cp:lastModifiedBy>
  <cp:revision>2</cp:revision>
  <dcterms:created xsi:type="dcterms:W3CDTF">2013-01-27T09:14:16Z</dcterms:created>
  <dcterms:modified xsi:type="dcterms:W3CDTF">2026-05-24T19:02:02Z</dcterms:modified>
  <cp:category/>
</cp:coreProperties>
</file>