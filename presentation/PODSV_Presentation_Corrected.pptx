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78"/>
  </p:normalViewPr>
  <p:slideViewPr>
    <p:cSldViewPr snapToGrid="0">
      <p:cViewPr varScale="1">
        <p:scale>
          <a:sx n="117" d="100"/>
          <a:sy n="117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1ED99D-BA50-0245-2138-B3AB11A54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152AE8-F98D-1C6D-38D2-D90EF2650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E86713-5013-F867-3EFD-2462DFE21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26D88E-6718-F66B-844D-029FF665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8308A5-9873-7FA9-DBC0-CBAB0BE3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206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C18831-128E-2B53-CAFD-9948882A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82AEE6-C77C-0272-5F6D-B13F9C23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ECC009-9505-27E1-1114-A6EEE9F5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97E392-2D9E-40DD-5894-1041D4DA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5B17EC-5B63-641E-6ECB-F14C5C8B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110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6F43B2-50D7-DAC1-05A4-F4453D20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5EDA36-4188-5EAA-228E-91BD70A3B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A89DA5-D7BC-20CE-C459-954F5C85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ED92F0-E7FD-622D-06EF-A58D56ED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748B0E-DFD0-A1CB-E6B0-09CABEBD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048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8EF6B-A61D-1850-0B67-9E004E3E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0A7CA2-6413-FC19-323B-CACCC324C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627FBD-AD03-B4AD-AE56-B5B01D5B8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A31798-A373-26F1-1551-68118BD0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3B8DC9-F6AB-4A6E-5E3B-02E6ADEB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76B27B-951F-2F3E-72D8-E3031DF9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580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ED605-E5A6-0C1C-750A-5BBF4B99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62019A-EA9C-BC39-3E04-277DF676B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89F766-9836-29E2-0522-8EF2E58D3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DC9CDB-1977-8A3B-9CD7-292B5B507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D2C974B-5459-1B80-0C66-BAC88ABE3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64C473-0383-5958-99CC-0A7D4883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8832AF9-652D-C9DB-05D0-CB8EB3AE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5D1EDF-C861-A69D-67F2-D49A70CA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655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61959-2489-FE76-0411-349ED398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576583-AA17-48EA-E2A2-4168FEC12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09D888-B224-0DE4-25B4-EF04F4CA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E690F1-CCA4-91FD-6A16-294AB330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213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780287-7D7D-EE15-3796-E413B9FF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70D954-CF20-9CCE-D151-A6ED2AFE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6DE9E7-2630-DF3A-1D08-2FA87EC8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460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81ADE-1551-408A-F197-06DCAC84C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EA0C37-76CA-625F-5FBC-8244B20C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8D120E-F697-F7DE-E292-48766730B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968AC0-D212-8108-D669-C7628F5F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10E7E6-3412-F8E3-1926-12DC9510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3E3B48-D4D7-7AE4-296C-EC193004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115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8C4C8-A19F-A65F-0104-F274D91A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40AB874-4678-B94A-0B41-10DCDC34A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5FDA5A-F7B5-16B8-FDBA-6852EE9F7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230DC6-3FEC-D4D1-7960-D28C8EE5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3E2958-F17A-DDDA-DC6D-857547D9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A7FFB8-D3D4-C7AE-13A3-9301AE08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2666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393F8-0CD9-A259-A95F-F74D1103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EAD0CA-87B3-34ED-F3AA-A4C877CAD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C8B09E-69AE-ED54-C28A-D83F3A3C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7431EB-FEAA-7FFF-161B-4C987C26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CB3EE3-79F5-AF42-49BB-649D6F1C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313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8B0CEC1-46F5-0925-5C8B-C564D9FF7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4CD659D-0148-D6F4-8D61-CD090A241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688CC7-E993-BB74-A680-64128445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FA20C2-8672-AD32-C503-59461C0A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5A20C1-2080-1BB5-102B-E8092566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959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E78194-7490-E122-C6A0-66462FCF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653090-EC32-9BD6-D8FB-9E4EBDBD5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BCFF0-1640-D32E-7C99-61DED9D41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79AE7-7A94-4AA7-94F4-1C6BD50641E9}" type="datetimeFigureOut">
              <a:rPr lang="de-CH" smtClean="0"/>
              <a:t>14.05.26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9CA4DC-0019-3F9A-E237-00FDCE969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21F23C-B06F-554D-6191-2046C97E4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0D24F-AADA-44B0-BD42-0E143C02AD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762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99D75-1266-CEC3-0B76-572B154AC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B3C570-F26F-A2A1-E5D3-8534F0426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0928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03860-EA1F-BFEF-3E4B-DA628934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Goals: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0FAE62-91E5-A186-DCF6-28F752943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Provide a base for decision </a:t>
            </a:r>
            <a:r>
              <a:rPr lang="en-US" dirty="0"/>
              <a:t>when starting a grocery delivery service</a:t>
            </a:r>
          </a:p>
          <a:p>
            <a:r>
              <a:rPr lang="en-US" dirty="0"/>
              <a:t>Give Key insights in an established grocery delivery service</a:t>
            </a:r>
          </a:p>
          <a:p>
            <a:r>
              <a:rPr lang="en-US" dirty="0"/>
              <a:t>Concluding</a:t>
            </a:r>
          </a:p>
        </p:txBody>
      </p:sp>
    </p:spTree>
    <p:extLst>
      <p:ext uri="{BB962C8B-B14F-4D97-AF65-F5344CB8AC3E}">
        <p14:creationId xmlns:p14="http://schemas.microsoft.com/office/powerpoint/2010/main" val="176951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7894B-BDCF-8AF9-963B-1C61B3FB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Measures we considered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B1DAD7-9DC0-BE13-1CCB-742B3B7DD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Understand Consumer Behavior</a:t>
            </a:r>
          </a:p>
          <a:p>
            <a:pPr lvl="1"/>
            <a:r>
              <a:rPr dirty="0"/>
              <a:t>Best selling Products</a:t>
            </a:r>
            <a:endParaRPr lang="de-CH" dirty="0"/>
          </a:p>
          <a:p>
            <a:pPr lvl="1"/>
            <a:r>
              <a:rPr dirty="0"/>
              <a:t>Key Departments by Products sold</a:t>
            </a:r>
          </a:p>
          <a:p>
            <a:pPr lvl="1"/>
            <a:r>
              <a:rPr dirty="0"/>
              <a:t>Which products lead to more sales </a:t>
            </a:r>
          </a:p>
          <a:p>
            <a:endParaRPr dirty="0"/>
          </a:p>
          <a:p>
            <a:r>
              <a:rPr dirty="0"/>
              <a:t>Understand customer retention </a:t>
            </a:r>
          </a:p>
          <a:p>
            <a:pPr lvl="1"/>
            <a:r>
              <a:rPr dirty="0"/>
              <a:t>Reorder Rate by Product</a:t>
            </a:r>
          </a:p>
          <a:p>
            <a:pPr lvl="1"/>
            <a:r>
              <a:rPr dirty="0"/>
              <a:t>Important products in small categories </a:t>
            </a:r>
          </a:p>
          <a:p>
            <a:pPr lvl="1"/>
            <a:r>
              <a:rPr dirty="0"/>
              <a:t>Time of ordering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046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986F03-2BC8-BC5F-342D-41381FCD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Best selling Products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7F9486-A6A5-A20D-E982-0C010D6AE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top sellers are either fresh fruits or vegetables</a:t>
            </a:r>
          </a:p>
          <a:p>
            <a:pPr lvl="1"/>
            <a:r>
              <a:rPr dirty="0"/>
              <a:t>5 of the 10 best selling items are Organic </a:t>
            </a:r>
          </a:p>
          <a:p>
            <a:pPr lvl="1"/>
            <a:r>
              <a:rPr dirty="0"/>
              <a:t>Most top products follow this pattern </a:t>
            </a:r>
          </a:p>
          <a:p>
            <a:endParaRPr dirty="0"/>
          </a:p>
          <a:p>
            <a:r>
              <a:rPr dirty="0"/>
              <a:t>Conclusion:</a:t>
            </a:r>
          </a:p>
          <a:p>
            <a:pPr lvl="1"/>
            <a:r>
              <a:rPr dirty="0"/>
              <a:t>Fresh products are crucial for revenue </a:t>
            </a:r>
          </a:p>
          <a:p>
            <a:pPr lvl="1"/>
            <a:r>
              <a:rPr dirty="0"/>
              <a:t>Organic products should be part of the strategy </a:t>
            </a:r>
          </a:p>
        </p:txBody>
      </p:sp>
    </p:spTree>
    <p:extLst>
      <p:ext uri="{BB962C8B-B14F-4D97-AF65-F5344CB8AC3E}">
        <p14:creationId xmlns:p14="http://schemas.microsoft.com/office/powerpoint/2010/main" val="4156066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6D585-A8F0-1137-178C-02BF87C2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Departments by Products sold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3D917E-C4C3-9961-E1FE-BEB9FEF70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pattern we just discussed is also visible when considering key departments</a:t>
            </a:r>
          </a:p>
          <a:p>
            <a:pPr lvl="1"/>
            <a:r>
              <a:rPr dirty="0"/>
              <a:t>The top department is Produce </a:t>
            </a:r>
          </a:p>
          <a:p>
            <a:pPr lvl="1"/>
            <a:r>
              <a:rPr dirty="0"/>
              <a:t>Followed by Dairy and Eggs </a:t>
            </a:r>
          </a:p>
          <a:p>
            <a:r>
              <a:rPr dirty="0"/>
              <a:t>The following important departments are convenience food categories such as</a:t>
            </a:r>
          </a:p>
          <a:p>
            <a:pPr lvl="1"/>
            <a:r>
              <a:rPr dirty="0"/>
              <a:t>Snacks </a:t>
            </a:r>
          </a:p>
          <a:p>
            <a:pPr lvl="1"/>
            <a:r>
              <a:rPr dirty="0"/>
              <a:t>(Beverages)</a:t>
            </a:r>
          </a:p>
          <a:p>
            <a:pPr lvl="1"/>
            <a:r>
              <a:rPr dirty="0"/>
              <a:t>Frozen </a:t>
            </a:r>
          </a:p>
          <a:p>
            <a:pPr lvl="1"/>
            <a:r>
              <a:rPr dirty="0"/>
              <a:t>And Pantry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0346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81B68-8B47-7916-5235-741A4CA1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Largest Clusters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FF0F14-3F59-7F47-49E9-C1ED13A40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500 products are considered </a:t>
            </a:r>
          </a:p>
          <a:p>
            <a:r>
              <a:t>Lift measures how many times more likely two products are bought together compared to what would be expected by random chance.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4764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A62740-B2BE-8923-9F12-1E4C147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Insight Cluster 0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weekly</a:t>
            </a:r>
            <a:r>
              <a:rPr lang="de-CH" dirty="0"/>
              <a:t> </a:t>
            </a:r>
            <a:r>
              <a:rPr lang="de-CH" dirty="0" err="1"/>
              <a:t>shopping</a:t>
            </a:r>
            <a:r>
              <a:rPr lang="de-CH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2FB4C5-7C59-ACDD-F617-42F48C381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Cluster 0 is not straightforward to interpret</a:t>
            </a:r>
          </a:p>
          <a:p>
            <a:r>
              <a:rPr dirty="0"/>
              <a:t>It contains mostly </a:t>
            </a:r>
          </a:p>
          <a:p>
            <a:pPr lvl="1"/>
            <a:r>
              <a:rPr dirty="0"/>
              <a:t>Vegetables</a:t>
            </a:r>
          </a:p>
          <a:p>
            <a:pPr lvl="1"/>
            <a:r>
              <a:rPr dirty="0"/>
              <a:t>And daily-use products like eggs or dairy</a:t>
            </a:r>
          </a:p>
          <a:p>
            <a:r>
              <a:rPr dirty="0"/>
              <a:t>We interpreted it as the weekly shopping cluster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773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DF44E-4486-97D7-7220-EB09A5A4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Insight Cluster 1 </a:t>
            </a:r>
            <a:r>
              <a:rPr lang="de-CH" dirty="0" err="1"/>
              <a:t>the</a:t>
            </a:r>
            <a:r>
              <a:rPr lang="de-CH" dirty="0"/>
              <a:t> Snack Cluster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364EFB-2C8E-85F7-5348-61216896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Mostly crisps, meat snacks, cheese, and dips 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595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2A65F-4B24-029F-BF22-95D8D117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Insight Cluster 2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pasta</a:t>
            </a:r>
            <a:r>
              <a:rPr lang="de-CH" dirty="0"/>
              <a:t> Cluster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AFE991-50D3-1085-A585-B817510F9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Containing products like pasta, grated cheese, sauces, and ground beef</a:t>
            </a:r>
          </a:p>
        </p:txBody>
      </p:sp>
    </p:spTree>
    <p:extLst>
      <p:ext uri="{BB962C8B-B14F-4D97-AF65-F5344CB8AC3E}">
        <p14:creationId xmlns:p14="http://schemas.microsoft.com/office/powerpoint/2010/main" val="125959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3ECA9-A24E-A3DC-7ADF-5FC827EC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Conclusion</a:t>
            </a:r>
            <a:r>
              <a:rPr lang="de-CH" dirty="0"/>
              <a:t> Clusters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44343F-6BD2-A28D-1AAE-2E61E7731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clusters described contain key products that are often bought together</a:t>
            </a:r>
          </a:p>
          <a:p>
            <a:r>
              <a:rPr dirty="0"/>
              <a:t>Possible strategies are:</a:t>
            </a:r>
          </a:p>
          <a:p>
            <a:pPr lvl="1"/>
            <a:r>
              <a:rPr dirty="0"/>
              <a:t>Recommend associated products when, for example, pasta is bought</a:t>
            </a:r>
          </a:p>
          <a:p>
            <a:pPr lvl="1"/>
            <a:r>
              <a:rPr dirty="0"/>
              <a:t>Product bundles are also worth considering</a:t>
            </a:r>
          </a:p>
        </p:txBody>
      </p:sp>
    </p:spTree>
    <p:extLst>
      <p:ext uri="{BB962C8B-B14F-4D97-AF65-F5344CB8AC3E}">
        <p14:creationId xmlns:p14="http://schemas.microsoft.com/office/powerpoint/2010/main" val="3035117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4DD97-1027-75A5-B414-D5AA25FB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Reorder Rate by Product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5AE794-1973-6E7A-DBCD-44BBAD7C9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17 of the top 20 products by reorder rate are dairy products </a:t>
            </a:r>
          </a:p>
          <a:p>
            <a:r>
              <a:rPr dirty="0"/>
              <a:t>11 of them are Milk</a:t>
            </a:r>
          </a:p>
          <a:p>
            <a:endParaRPr dirty="0"/>
          </a:p>
          <a:p>
            <a:r>
              <a:rPr dirty="0"/>
              <a:t>Conclusion:</a:t>
            </a:r>
          </a:p>
          <a:p>
            <a:pPr lvl="1"/>
            <a:r>
              <a:rPr dirty="0"/>
              <a:t>It is crucial to provide as many different milk options as commercially justifiable</a:t>
            </a:r>
          </a:p>
        </p:txBody>
      </p:sp>
    </p:spTree>
    <p:extLst>
      <p:ext uri="{BB962C8B-B14F-4D97-AF65-F5344CB8AC3E}">
        <p14:creationId xmlns:p14="http://schemas.microsoft.com/office/powerpoint/2010/main" val="2199376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93169-79DD-B5E4-7EC7-40364984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Niche Products with Loyal Customers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DB456C-9165-1574-D0BE-7583363DA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is no clear pattern in these kinds of products</a:t>
            </a:r>
          </a:p>
          <a:p>
            <a:r>
              <a:t>However, they should definitely be part of the available product range </a:t>
            </a:r>
          </a:p>
        </p:txBody>
      </p:sp>
    </p:spTree>
    <p:extLst>
      <p:ext uri="{BB962C8B-B14F-4D97-AF65-F5344CB8AC3E}">
        <p14:creationId xmlns:p14="http://schemas.microsoft.com/office/powerpoint/2010/main" val="246879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8D358-AED2-875C-ED2F-1825A76C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Frequency by Day and Time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444D87-16DE-C025-9CCC-038BB6D2E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Sunday and Monday are the days with the most traction </a:t>
            </a:r>
          </a:p>
          <a:p>
            <a:r>
              <a:rPr dirty="0"/>
              <a:t>Before 7am and after 7pm there are significantly fewer orders </a:t>
            </a:r>
          </a:p>
          <a:p>
            <a:endParaRPr dirty="0"/>
          </a:p>
          <a:p>
            <a:r>
              <a:rPr dirty="0"/>
              <a:t>Conclusion:</a:t>
            </a:r>
          </a:p>
          <a:p>
            <a:pPr lvl="1"/>
            <a:r>
              <a:rPr dirty="0"/>
              <a:t>Orders should be possible every day between 7am and 7pm </a:t>
            </a:r>
          </a:p>
          <a:p>
            <a:pPr lvl="1"/>
            <a:r>
              <a:rPr dirty="0"/>
              <a:t>For Mondays and Sundays, it is recommended to work with additional part-time employees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9287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Macintosh PowerPoint</Application>
  <PresentationFormat>Breitbild</PresentationFormat>
  <Paragraphs>65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PowerPoint-Präsentation</vt:lpstr>
      <vt:lpstr>Goals:</vt:lpstr>
      <vt:lpstr>Measures we considered </vt:lpstr>
      <vt:lpstr>Best selling Products</vt:lpstr>
      <vt:lpstr>Key Departments by Products sold</vt:lpstr>
      <vt:lpstr>Largest Clusters </vt:lpstr>
      <vt:lpstr>Insight Cluster 0 the weekly shopping </vt:lpstr>
      <vt:lpstr>Insight Cluster 1 the Snack Cluster</vt:lpstr>
      <vt:lpstr>Insight Cluster 2 the pasta Cluster</vt:lpstr>
      <vt:lpstr>Conclusion Clusters</vt:lpstr>
      <vt:lpstr>Reorder Rate by Product</vt:lpstr>
      <vt:lpstr>Niche Products with Loyal Customers</vt:lpstr>
      <vt:lpstr>Order Frequency by Day and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Kull Jonathan (kulljon1)</dc:creator>
  <cp:lastModifiedBy>Lara Cristina Pestrin</cp:lastModifiedBy>
  <cp:revision>4</cp:revision>
  <dcterms:created xsi:type="dcterms:W3CDTF">2026-05-11T04:24:14Z</dcterms:created>
  <dcterms:modified xsi:type="dcterms:W3CDTF">2026-05-14T13:03:13Z</dcterms:modified>
</cp:coreProperties>
</file>