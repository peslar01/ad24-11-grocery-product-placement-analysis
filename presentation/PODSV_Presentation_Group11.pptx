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ZHAW  ·  VISUALISATION &amp; DATA SCIENCE STORYTELLING II  ·  FS 2025/26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8412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Optimising Product Placement</a:t>
            </a:r>
            <a:endParaRPr lang="en-US" sz="41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Grocery Purchase Data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777240" y="41605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that turns 3.2 million Instacart orders into assortment, cross-sell and retention decisions for grocery delivery.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5532120"/>
            <a:ext cx="1005840" cy="0"/>
          </a:xfrm>
          <a:prstGeom prst="line">
            <a:avLst/>
          </a:prstGeom>
          <a:noFill/>
          <a:ln w="31750">
            <a:solidFill>
              <a:srgbClr val="E07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Pestrin   ·   Jonathan Kull   ·   Veprim Mehmeti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646920" y="2834640"/>
            <a:ext cx="757123" cy="-420624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0" y="2834640"/>
            <a:ext cx="504749" cy="757123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46920" y="2834640"/>
            <a:ext cx="-588874" cy="504749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04043" y="2414016"/>
            <a:ext cx="504749" cy="67299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08792" y="3087014"/>
            <a:ext cx="672998" cy="16825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08792" y="3087014"/>
            <a:ext cx="336499" cy="-757123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04043" y="2414016"/>
            <a:ext cx="841248" cy="-84125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51669" y="3591763"/>
            <a:ext cx="504749" cy="420624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46920" y="2834640"/>
            <a:ext cx="-420624" cy="-67299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8046" y="3339389"/>
            <a:ext cx="-336499" cy="-67299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2834640"/>
            <a:ext cx="252374" cy="-1093622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581790" y="3255264"/>
            <a:ext cx="420624" cy="-588874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56418" y="4012387"/>
            <a:ext cx="672998" cy="-84125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8046" y="3339389"/>
            <a:ext cx="420624" cy="84124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63456" y="2551176"/>
            <a:ext cx="566928" cy="566928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66883" y="2276856"/>
            <a:ext cx="274320" cy="274320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16768" y="2894990"/>
            <a:ext cx="384048" cy="384048"/>
          </a:xfrm>
          <a:prstGeom prst="ellipse">
            <a:avLst/>
          </a:prstGeom>
          <a:solidFill>
            <a:srgbClr val="E07A3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41941" y="3482035"/>
            <a:ext cx="219456" cy="219456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02598" y="3183941"/>
            <a:ext cx="310896" cy="310896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25712" y="2061058"/>
            <a:ext cx="201168" cy="201168"/>
          </a:xfrm>
          <a:prstGeom prst="ellipse">
            <a:avLst/>
          </a:prstGeom>
          <a:solidFill>
            <a:srgbClr val="5B8DB8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153851" y="2238451"/>
            <a:ext cx="182880" cy="182880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17198" y="3090672"/>
            <a:ext cx="329184" cy="329184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37546" y="3893515"/>
            <a:ext cx="237744" cy="237744"/>
          </a:xfrm>
          <a:prstGeom prst="ellipse">
            <a:avLst/>
          </a:prstGeom>
          <a:solidFill>
            <a:srgbClr val="5B8DB8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39251" y="2584094"/>
            <a:ext cx="164592" cy="164592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71278" y="1613002"/>
            <a:ext cx="256032" cy="256032"/>
          </a:xfrm>
          <a:prstGeom prst="ellipse">
            <a:avLst/>
          </a:prstGeom>
          <a:solidFill>
            <a:srgbClr val="E07A3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247120" y="3845966"/>
            <a:ext cx="164592" cy="164592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92686" y="2556662"/>
            <a:ext cx="219456" cy="219456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87230" y="4089197"/>
            <a:ext cx="182880" cy="182880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15016" y="2929738"/>
            <a:ext cx="146304" cy="146304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Grocery delivery lives or dies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its assortment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platforms like Flink or Gorillas manage thousands of products and have to keep optimising what they stock — balancing customer demand, storage capacity and delivery efficiency.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planners and buyers make these calls every week, often from manual Excel reports. They need a faster, more intuitive, data-driven foundation — and that is what this project set out to build.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55080" y="1417320"/>
            <a:ext cx="5029200" cy="4754880"/>
          </a:xfrm>
          <a:prstGeom prst="roundRect">
            <a:avLst>
              <a:gd name="adj" fmla="val 1731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WE SET OUT TO ANSWER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42048" y="22585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purchased most frequently?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42048" y="30449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commonly bought together?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42048" y="38313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earn the highest customer loyalty?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42048" y="46177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by day and hour — are orders placed?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512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242048" y="540410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 for assortment and retention?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3.2 million real grocery orders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2F6E4F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848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9443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8745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20848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206K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11880" y="29443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20848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49.7K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29443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8745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0848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29443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134 aisles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Instacart Online Grocery dataset (2017)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public, fully anonymised set of US grocery-delivery orders. It spans six linked tables — orders, order-products, products, aisles and departments — covering roughly 3.4 million orders in total, of which 3.2 million prior orders form the basis of every chart in this deck.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 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has no absolute dates (only day-of-week and hour) and reflects US shopping behaviour in 2017 — patterns, not exact forecasts.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people make these calls every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0292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0" cy="109728"/>
          </a:xfrm>
          <a:prstGeom prst="rect">
            <a:avLst/>
          </a:prstGeom>
          <a:solidFill>
            <a:srgbClr val="2F6E4F"/>
          </a:solidFill>
          <a:ln/>
        </p:spPr>
      </p:sp>
      <p:pic>
        <p:nvPicPr>
          <p:cNvPr id="6" name="Image 0" descr="assets/avatar_sand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57984"/>
            <a:ext cx="950976" cy="950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58568" y="22494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Sandra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76856" y="2697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PLANNER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43000" y="3291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· Business Administration · 5 years in grocery retail · medium data literacy, no coding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4023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visual overview of top products and what sells together — without manual Excel prep.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3000" y="50292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slow and error-prone; co-purchase relationships are invisible in current tools.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783080"/>
            <a:ext cx="50292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55080" y="1783080"/>
            <a:ext cx="5029200" cy="109728"/>
          </a:xfrm>
          <a:prstGeom prst="rect">
            <a:avLst/>
          </a:prstGeom>
          <a:solidFill>
            <a:srgbClr val="E07A3F"/>
          </a:solidFill>
          <a:ln/>
        </p:spPr>
      </p:sp>
      <p:pic>
        <p:nvPicPr>
          <p:cNvPr id="14" name="Image 1" descr="assets/avatar_mar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57984"/>
            <a:ext cx="950976" cy="9509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36408" y="22494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854696" y="2697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720840" y="3291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Retail Management · 2 years in e-commerce grocery · comfortable with KPIs, no coding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720840" y="4023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listing, delisting and supplier talks — and a way to spot loyal niche products.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720840" y="50292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lean on intuition; high-loyalty 'hidden gems' never show up in standard sales reports.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Streamlit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exploration, not static reporting. Three sections mirror the way planners and buyers actually think about the business.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456432" cy="3429000"/>
          </a:xfrm>
          <a:prstGeom prst="roundRect">
            <a:avLst>
              <a:gd name="adj" fmla="val 1867"/>
            </a:avLst>
          </a:prstGeom>
          <a:solidFill>
            <a:srgbClr val="1E4630"/>
          </a:solidFill>
          <a:ln w="12700">
            <a:solidFill>
              <a:srgbClr val="2F6E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Overview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 — six headline metrics for instant orientation.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46817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customers, products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 &amp; peak hour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department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2514600"/>
            <a:ext cx="3456432" cy="3429000"/>
          </a:xfrm>
          <a:prstGeom prst="roundRect">
            <a:avLst>
              <a:gd name="adj" fmla="val 1867"/>
            </a:avLst>
          </a:prstGeom>
          <a:solidFill>
            <a:srgbClr val="1E4630"/>
          </a:solidFill>
          <a:ln w="12700">
            <a:solidFill>
              <a:srgbClr val="2F6E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27448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Development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27448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sells, and what sells together.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6817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sales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bought together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37576" y="2514600"/>
            <a:ext cx="3456432" cy="3429000"/>
          </a:xfrm>
          <a:prstGeom prst="roundRect">
            <a:avLst>
              <a:gd name="adj" fmla="val 1867"/>
            </a:avLst>
          </a:prstGeom>
          <a:solidFill>
            <a:srgbClr val="1E4630"/>
          </a:solidFill>
          <a:ln w="12700">
            <a:solidFill>
              <a:srgbClr val="2F6E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57616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Retention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57616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comes back, and when.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85048" y="46817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Shopping-time heatmap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locally:  streamlit run deployment/app.py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01 · PRODUCT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produce owns the top of the basket</a:t>
            </a:r>
            <a:endParaRPr lang="en-US" sz="3000" dirty="0"/>
          </a:p>
        </p:txBody>
      </p:sp>
      <p:pic>
        <p:nvPicPr>
          <p:cNvPr id="4" name="Image 0" descr="assets/chart_top_sell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8820"/>
            <a:ext cx="679765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32090" y="1874520"/>
            <a:ext cx="3382366" cy="2971800"/>
          </a:xfrm>
          <a:prstGeom prst="roundRect">
            <a:avLst>
              <a:gd name="adj" fmla="val 2462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4698" y="2121408"/>
            <a:ext cx="2797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4698" y="2432304"/>
            <a:ext cx="27971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entire top 15 is fresh fruit and vegetables.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Bananas lead at 0.47M purchases, followed by Bag of Organic Bananas and Organic Strawberries. More than half of the top sellers carry an “Organic” label.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32090" y="5074920"/>
            <a:ext cx="64008" cy="109728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9" name="Text 6"/>
          <p:cNvSpPr/>
          <p:nvPr/>
        </p:nvSpPr>
        <p:spPr>
          <a:xfrm>
            <a:off x="8278978" y="5074920"/>
            <a:ext cx="31354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15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and a credible organic range are non-negotiable for the core assortment.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02 · PRODUCT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drives almost a third of all volume</a:t>
            </a:r>
            <a:endParaRPr lang="en-US" sz="3000" dirty="0"/>
          </a:p>
        </p:txBody>
      </p:sp>
      <p:pic>
        <p:nvPicPr>
          <p:cNvPr id="4" name="Image 0" descr="assets/chart_department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97380"/>
            <a:ext cx="6081217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657" y="1874520"/>
            <a:ext cx="4098798" cy="2971800"/>
          </a:xfrm>
          <a:prstGeom prst="roundRect">
            <a:avLst>
              <a:gd name="adj" fmla="val 2462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08265" y="2121408"/>
            <a:ext cx="3513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08265" y="2432304"/>
            <a:ext cx="351358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and Dairy &amp; Eggs dwarf every other department.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drives ~9.5M purchases and Dairy &amp; Eggs ~5.4M. The next tier — snacks, beverages, frozen, pantry — is all convenience food. Bulk, alcohol and pets barely register.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657" y="5074920"/>
            <a:ext cx="64008" cy="109728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9" name="Text 6"/>
          <p:cNvSpPr/>
          <p:nvPr/>
        </p:nvSpPr>
        <p:spPr>
          <a:xfrm>
            <a:off x="7562545" y="5074920"/>
            <a:ext cx="38519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15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the assortment on produce and dairy; treat convenience categories as the growth layer.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03 · PRODUCT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Co-purchase analysis reveals natural baskets</a:t>
            </a:r>
            <a:endParaRPr lang="en-US" sz="3000" dirty="0"/>
          </a:p>
        </p:txBody>
      </p:sp>
      <p:pic>
        <p:nvPicPr>
          <p:cNvPr id="4" name="Image 0" descr="assets/chart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5845119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79559" y="1810512"/>
            <a:ext cx="4334896" cy="3310128"/>
          </a:xfrm>
          <a:prstGeom prst="roundRect">
            <a:avLst>
              <a:gd name="adj" fmla="val 2210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72167" y="2048256"/>
            <a:ext cx="37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72167" y="2322576"/>
            <a:ext cx="374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bought together far more than chance form three clear clusters among the 500 most-purchased items (lift ≥ 2):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90455" y="3374136"/>
            <a:ext cx="164592" cy="164592"/>
          </a:xfrm>
          <a:prstGeom prst="ellipse">
            <a:avLst/>
          </a:prstGeom>
          <a:solidFill>
            <a:srgbClr val="2F6E4F"/>
          </a:solidFill>
          <a:ln/>
        </p:spPr>
      </p:sp>
      <p:sp>
        <p:nvSpPr>
          <p:cNvPr id="9" name="Text 6"/>
          <p:cNvSpPr/>
          <p:nvPr/>
        </p:nvSpPr>
        <p:spPr>
          <a:xfrm>
            <a:off x="7664775" y="3310128"/>
            <a:ext cx="3420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vegetables &amp; aromatics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spinach, avocado, onion, garlic, lemon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90455" y="3959352"/>
            <a:ext cx="164592" cy="164592"/>
          </a:xfrm>
          <a:prstGeom prst="ellipse">
            <a:avLst/>
          </a:prstGeom>
          <a:solidFill>
            <a:srgbClr val="E07A3F"/>
          </a:solidFill>
          <a:ln/>
        </p:spPr>
      </p:sp>
      <p:sp>
        <p:nvSpPr>
          <p:cNvPr id="11" name="Text 8"/>
          <p:cNvSpPr/>
          <p:nvPr/>
        </p:nvSpPr>
        <p:spPr>
          <a:xfrm>
            <a:off x="7664775" y="3895344"/>
            <a:ext cx="3420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fruit &amp; milk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banana, berries, apples, whole milk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90455" y="4544568"/>
            <a:ext cx="164592" cy="164592"/>
          </a:xfrm>
          <a:prstGeom prst="ellipse">
            <a:avLst/>
          </a:prstGeom>
          <a:solidFill>
            <a:srgbClr val="5B8DB8"/>
          </a:solidFill>
          <a:ln/>
        </p:spPr>
      </p:sp>
      <p:sp>
        <p:nvSpPr>
          <p:cNvPr id="13" name="Text 10"/>
          <p:cNvSpPr/>
          <p:nvPr/>
        </p:nvSpPr>
        <p:spPr>
          <a:xfrm>
            <a:off x="7664775" y="4480560"/>
            <a:ext cx="3420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 basket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bananas, berries, almond milk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79559" y="5349240"/>
            <a:ext cx="64008" cy="91440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5" name="Text 12"/>
          <p:cNvSpPr/>
          <p:nvPr/>
        </p:nvSpPr>
        <p:spPr>
          <a:xfrm>
            <a:off x="7326447" y="5349240"/>
            <a:ext cx="4088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15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cluster members in the same app category, recommend across links, and bundle the strongest pairs.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04 · CUSTOMER RETENTION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loyalty is built on milk</a:t>
            </a:r>
            <a:endParaRPr lang="en-US" sz="3000" dirty="0"/>
          </a:p>
        </p:txBody>
      </p:sp>
      <p:pic>
        <p:nvPicPr>
          <p:cNvPr id="4" name="Image 0" descr="assets/chart_reorder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88820"/>
            <a:ext cx="679765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32090" y="1874520"/>
            <a:ext cx="3382366" cy="2971800"/>
          </a:xfrm>
          <a:prstGeom prst="roundRect">
            <a:avLst>
              <a:gd name="adj" fmla="val 2462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4698" y="2121408"/>
            <a:ext cx="2797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4698" y="2432304"/>
            <a:ext cx="27971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runs on milk and water.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reorder rate is 58.9% — a highly habitual base. Among products with 500+ purchases, the highest reorder rates (84–86%) are almost entirely milk and water.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32090" y="5074920"/>
            <a:ext cx="64008" cy="109728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9" name="Text 6"/>
          <p:cNvSpPr/>
          <p:nvPr/>
        </p:nvSpPr>
        <p:spPr>
          <a:xfrm>
            <a:off x="8278978" y="5074920"/>
            <a:ext cx="31354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15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staples are ideal candidates for subscriptions and automatic reorder reminders.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05 · CUSTOMER RETENTION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gems: small categories, loyal fans</a:t>
            </a:r>
            <a:endParaRPr lang="en-US" sz="3000" dirty="0"/>
          </a:p>
        </p:txBody>
      </p:sp>
      <p:pic>
        <p:nvPicPr>
          <p:cNvPr id="4" name="Image 0" descr="assets/chart_hidden_g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71700"/>
            <a:ext cx="6752021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86461" y="1874520"/>
            <a:ext cx="3427994" cy="2971800"/>
          </a:xfrm>
          <a:prstGeom prst="roundRect">
            <a:avLst>
              <a:gd name="adj" fmla="val 2462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9069" y="2121408"/>
            <a:ext cx="284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79069" y="2432304"/>
            <a:ext cx="284277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categories, surprisingly loyal customers.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five biggest departments, breads, hams and wraps still reach 78–83% reorder rates despite low volume — a loyal base that is invisible in standard reports.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86461" y="5074920"/>
            <a:ext cx="64008" cy="109728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9" name="Text 6"/>
          <p:cNvSpPr/>
          <p:nvPr/>
        </p:nvSpPr>
        <p:spPr>
          <a:xfrm>
            <a:off x="8233349" y="5074920"/>
            <a:ext cx="31811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15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these niche products from delisting; they punch above their volume in retention.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06 · CUSTOMER RETENTION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 and Monday mornings carry the week</a:t>
            </a:r>
            <a:endParaRPr lang="en-US" sz="3000" dirty="0"/>
          </a:p>
        </p:txBody>
      </p:sp>
      <p:pic>
        <p:nvPicPr>
          <p:cNvPr id="4" name="Image 0" descr="assets/char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783080"/>
            <a:ext cx="9509760" cy="342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285232"/>
            <a:ext cx="10634472" cy="960120"/>
          </a:xfrm>
          <a:prstGeom prst="roundRect">
            <a:avLst>
              <a:gd name="adj" fmla="val 7619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5285232"/>
            <a:ext cx="64008" cy="960120"/>
          </a:xfrm>
          <a:prstGeom prst="rect">
            <a:avLst/>
          </a:prstGeom>
          <a:solidFill>
            <a:srgbClr val="2F6E4F"/>
          </a:solidFill>
          <a:ln/>
        </p:spPr>
      </p:sp>
      <p:sp>
        <p:nvSpPr>
          <p:cNvPr id="7" name="Text 4"/>
          <p:cNvSpPr/>
          <p:nvPr/>
        </p:nvSpPr>
        <p:spPr>
          <a:xfrm>
            <a:off x="1069848" y="5358384"/>
            <a:ext cx="10058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15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cluster on Sunday and Monday, roughly 9:00–16:00, and fall away sharply before 7:00 and after 19:00.
</a:t>
            </a:r>
            <a:pPr indent="0" marL="0">
              <a:lnSpc>
                <a:spcPts val="1600"/>
              </a:lnSpc>
              <a:buNone/>
            </a:pPr>
            <a:r>
              <a:rPr lang="en-US" sz="1050" b="1" spc="15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 for the weekly peak; push promotions on Saturday evening to catch early planners.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to assortment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2615184" cy="4160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2615184" cy="100584"/>
          </a:xfrm>
          <a:prstGeom prst="rect">
            <a:avLst/>
          </a:prstGeom>
          <a:solidFill>
            <a:srgbClr val="2F6E4F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69848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 fresh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36576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produce and a credible organic range the non-negotiable core of the assortment.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SANDRA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57016" y="1874520"/>
            <a:ext cx="2615184" cy="4160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7016" y="1874520"/>
            <a:ext cx="2615184" cy="100584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12" name="Text 10"/>
          <p:cNvSpPr/>
          <p:nvPr/>
        </p:nvSpPr>
        <p:spPr>
          <a:xfrm>
            <a:off x="3849624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849624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 the clusters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9624" y="36576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co-purchased products together and cross-sell across the strongest links.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9624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36792" y="1874520"/>
            <a:ext cx="2615184" cy="4160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36792" y="1874520"/>
            <a:ext cx="2615184" cy="100584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629400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 the staples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36576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milk, water and other high-reorder staples as subscriptions and auto-reorders.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SANDRA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16568" y="1874520"/>
            <a:ext cx="2615184" cy="4160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sx="100000" sy="100000" kx="0" ky="0" algn="bl" rotWithShape="0" blurRad="114300" dist="38100" dir="8100000">
              <a:srgbClr val="1C2E22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16568" y="1874520"/>
            <a:ext cx="2615184" cy="100584"/>
          </a:xfrm>
          <a:prstGeom prst="rect">
            <a:avLst/>
          </a:prstGeom>
          <a:solidFill>
            <a:srgbClr val="2F6E4F"/>
          </a:solidFill>
          <a:ln/>
        </p:spPr>
      </p:sp>
      <p:sp>
        <p:nvSpPr>
          <p:cNvPr id="24" name="Text 22"/>
          <p:cNvSpPr/>
          <p:nvPr/>
        </p:nvSpPr>
        <p:spPr>
          <a:xfrm>
            <a:off x="9409176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409176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the gems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09176" y="36576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loyal niche products on the shelf — they retain customers despite low volume.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09176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MARCO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million orders,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clear shelf strategy.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turns anonymised purchase data into decisions Sandra and Marco can act on — faster, more intuitively, and without writing a line of code.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617720"/>
            <a:ext cx="1005840" cy="0"/>
          </a:xfrm>
          <a:prstGeom prst="line">
            <a:avLst/>
          </a:prstGeom>
          <a:noFill/>
          <a:ln w="31750">
            <a:solidFill>
              <a:srgbClr val="E07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846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github.com/peslar01/ad24-11-grocery-product-placement-analysis
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 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deployment/app.py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Pestrin   ·   Jonathan Kull   ·   Veprim Mehmeti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84080" y="3200400"/>
            <a:ext cx="757123" cy="-420624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3200400"/>
            <a:ext cx="504749" cy="757123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0" y="3200400"/>
            <a:ext cx="-588874" cy="504749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41203" y="2779776"/>
            <a:ext cx="504749" cy="67299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45952" y="3452774"/>
            <a:ext cx="672998" cy="16825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45952" y="3452774"/>
            <a:ext cx="336499" cy="-757123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41203" y="2779776"/>
            <a:ext cx="841248" cy="-84125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88829" y="3957523"/>
            <a:ext cx="504749" cy="420624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3200400"/>
            <a:ext cx="-420624" cy="-67299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5206" y="3705149"/>
            <a:ext cx="-336499" cy="-67299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0" y="3200400"/>
            <a:ext cx="252374" cy="-1093622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18950" y="3621024"/>
            <a:ext cx="420624" cy="-588874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3578" y="4378147"/>
            <a:ext cx="672998" cy="-84125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95206" y="3705149"/>
            <a:ext cx="420624" cy="84124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0616" y="2916936"/>
            <a:ext cx="566928" cy="566928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04043" y="2642616"/>
            <a:ext cx="274320" cy="274320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53928" y="3260750"/>
            <a:ext cx="384048" cy="384048"/>
          </a:xfrm>
          <a:prstGeom prst="ellipse">
            <a:avLst/>
          </a:prstGeom>
          <a:solidFill>
            <a:srgbClr val="E07A3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79101" y="3847795"/>
            <a:ext cx="219456" cy="219456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39758" y="3549701"/>
            <a:ext cx="310896" cy="310896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62872" y="2426818"/>
            <a:ext cx="201168" cy="201168"/>
          </a:xfrm>
          <a:prstGeom prst="ellipse">
            <a:avLst/>
          </a:prstGeom>
          <a:solidFill>
            <a:srgbClr val="5B8DB8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91011" y="2604211"/>
            <a:ext cx="182880" cy="182880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54358" y="3456432"/>
            <a:ext cx="329184" cy="329184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74706" y="4259275"/>
            <a:ext cx="237744" cy="237744"/>
          </a:xfrm>
          <a:prstGeom prst="ellipse">
            <a:avLst/>
          </a:prstGeom>
          <a:solidFill>
            <a:srgbClr val="5B8DB8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6411" y="2949854"/>
            <a:ext cx="164592" cy="164592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08438" y="1978762"/>
            <a:ext cx="256032" cy="256032"/>
          </a:xfrm>
          <a:prstGeom prst="ellipse">
            <a:avLst/>
          </a:prstGeom>
          <a:solidFill>
            <a:srgbClr val="E07A3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384280" y="4211726"/>
            <a:ext cx="164592" cy="164592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029846" y="2922422"/>
            <a:ext cx="219456" cy="219456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24390" y="4454957"/>
            <a:ext cx="182880" cy="182880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52176" y="3295498"/>
            <a:ext cx="146304" cy="146304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Optimising Product Placement Using Grocery Purchase Data</dc:title>
  <dc:subject>PptxGenJS Presentation</dc:subject>
  <dc:creator>Group 11 — Lara Pestrin, Jonathan Kull, Veprim Mehmeti</dc:creator>
  <cp:lastModifiedBy>Group 11 — Lara Pestrin, Jonathan Kull, Veprim Mehmeti</cp:lastModifiedBy>
  <cp:revision>1</cp:revision>
  <dcterms:created xsi:type="dcterms:W3CDTF">2026-05-14T19:09:14Z</dcterms:created>
  <dcterms:modified xsi:type="dcterms:W3CDTF">2026-05-14T19:09:14Z</dcterms:modified>
</cp:coreProperties>
</file>